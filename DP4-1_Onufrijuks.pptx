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6" r:id="rId2"/>
    <p:sldId id="260" r:id="rId3"/>
    <p:sldId id="257" r:id="rId4"/>
    <p:sldId id="261" r:id="rId5"/>
    <p:sldId id="268" r:id="rId6"/>
    <p:sldId id="285" r:id="rId7"/>
    <p:sldId id="275" r:id="rId8"/>
    <p:sldId id="286" r:id="rId9"/>
    <p:sldId id="281" r:id="rId10"/>
    <p:sldId id="284" r:id="rId11"/>
    <p:sldId id="282" r:id="rId12"/>
    <p:sldId id="283" r:id="rId13"/>
    <p:sldId id="259" r:id="rId14"/>
    <p:sldId id="280" r:id="rId15"/>
    <p:sldId id="258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877695-C291-ED74-4FDB-ECF642BDC698}" v="221" dt="2026-05-18T05:54:38.999"/>
    <p1510:client id="{E227A8A9-4CF2-F764-B944-6D63B59C89C4}" v="10" dt="2026-05-17T08:52:40.8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2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1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0F28B-45E3-4585-87E3-73838692A7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668049"/>
            <a:ext cx="7626795" cy="2841914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F755B0-E17A-4B52-A99D-C35BB18BB2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3602038"/>
            <a:ext cx="7626795" cy="2501728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390C28-805B-4DA6-A10E-651C0FD01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5EBBA9-C52F-4628-AE0D-DCD1772F9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5BAC57-F8E1-4B54-A111-CB53B3203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404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A2C84-1247-4534-81D1-136C3E1EB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8D490-CEA6-4844-A537-F749658D37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DAEFC9-887F-4E73-9938-6032D5286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FCF0CF-134A-404E-A177-9FAAA039F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A1B0DC-2D2C-408B-A577-904A2385C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966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55431-EF88-4771-9699-27EF70A55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50"/>
            <a:ext cx="7673389" cy="3816588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AF57C3-A928-4093-B3FC-ECC2194AE9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4589463"/>
            <a:ext cx="7673389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BFD625-A893-46D3-A518-9E969CB4F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CAD37A-B380-4B65-9FB9-3FB914120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E773B6-CD13-4451-9BF3-C4102BA5E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245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1FBD0A-9F7B-4EBB-9982-B55F5F9806C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Color Fill">
            <a:extLst>
              <a:ext uri="{FF2B5EF4-FFF2-40B4-BE49-F238E27FC236}">
                <a16:creationId xmlns:a16="http://schemas.microsoft.com/office/drawing/2014/main" id="{88CFF0B8-0BA9-4DD9-B7B2-0655DC8419A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77B910E-9B87-4291-987B-6883212CBAE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/>
        </p:nvGrpSpPr>
        <p:grpSpPr>
          <a:xfrm>
            <a:off x="11151383" y="2767655"/>
            <a:ext cx="1040617" cy="2833045"/>
            <a:chOff x="11151383" y="2767655"/>
            <a:chExt cx="1040617" cy="2833045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5596CF7-55B3-409D-A36C-F5BE9D625628}"/>
                </a:ext>
              </a:extLst>
            </p:cNvPr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2245D23-45D8-474C-8A38-633E99962676}"/>
                </a:ext>
              </a:extLst>
            </p:cNvPr>
            <p:cNvSpPr/>
            <p:nvPr/>
          </p:nvSpPr>
          <p:spPr>
            <a:xfrm flipV="1">
              <a:off x="11151383" y="4336822"/>
              <a:ext cx="1040617" cy="1263878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18A8D14-28CA-4095-B2FA-E48B3150AD1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/>
          </p:nvSpPr>
          <p:spPr>
            <a:xfrm>
              <a:off x="11638492" y="2767655"/>
              <a:ext cx="553508" cy="1567713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</p:grpSp>
      <p:sp>
        <p:nvSpPr>
          <p:cNvPr id="13" name="Texture">
            <a:extLst>
              <a:ext uri="{FF2B5EF4-FFF2-40B4-BE49-F238E27FC236}">
                <a16:creationId xmlns:a16="http://schemas.microsoft.com/office/drawing/2014/main" id="{1D1F176A-19F1-4537-800D-210F29EC1AC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A04C26-6125-4D95-9FC0-50DEB9419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10451534" cy="159174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35401A-13E5-4CED-864F-06D6EECCBC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2341329"/>
            <a:ext cx="5562600" cy="38356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513523-8F78-4766-91D7-03E329B683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341329"/>
            <a:ext cx="4736534" cy="38356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5B757F-BAD2-4343-BD57-FC02D0BE1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30EF3C-A61E-4F43-9C8F-BC9A6455C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19D947-1DC8-4CE9-A031-6EEB776BD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276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5BFA9BB-A51E-4D09-8602-5AD9010463B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Color Fill">
            <a:extLst>
              <a:ext uri="{FF2B5EF4-FFF2-40B4-BE49-F238E27FC236}">
                <a16:creationId xmlns:a16="http://schemas.microsoft.com/office/drawing/2014/main" id="{A60257A1-779B-4048-BC0D-1EA579B5B1C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8F4B5D0-AA24-4702-9C01-FC1A03E7B60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/>
        </p:nvGrpSpPr>
        <p:grpSpPr>
          <a:xfrm>
            <a:off x="11151383" y="2767655"/>
            <a:ext cx="1040617" cy="2833045"/>
            <a:chOff x="11151383" y="2767655"/>
            <a:chExt cx="1040617" cy="2833045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29CBF9BD-1EB2-4122-98FE-F2B5DF8771C9}"/>
                </a:ext>
              </a:extLst>
            </p:cNvPr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7C41FF89-01DF-4236-AA4D-243CB8A464B3}"/>
                </a:ext>
              </a:extLst>
            </p:cNvPr>
            <p:cNvSpPr/>
            <p:nvPr/>
          </p:nvSpPr>
          <p:spPr>
            <a:xfrm flipV="1">
              <a:off x="11151383" y="4336822"/>
              <a:ext cx="1040617" cy="1263878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D03BB88-350D-4DE0-BB34-870F6435689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/>
          </p:nvSpPr>
          <p:spPr>
            <a:xfrm>
              <a:off x="11638492" y="2767655"/>
              <a:ext cx="553508" cy="1567713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</p:grpSp>
      <p:sp>
        <p:nvSpPr>
          <p:cNvPr id="15" name="Texture">
            <a:extLst>
              <a:ext uri="{FF2B5EF4-FFF2-40B4-BE49-F238E27FC236}">
                <a16:creationId xmlns:a16="http://schemas.microsoft.com/office/drawing/2014/main" id="{4A8025C0-8995-4863-A847-7ED1F8CCE81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162335-6445-435C-A1C6-9F090B965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10450629" cy="13255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074B3D-418F-464D-91E7-993D0B4801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086" y="2182814"/>
            <a:ext cx="502151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904709-9362-4AB5-9AA2-32F51BF06A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086" y="3115949"/>
            <a:ext cx="5021512" cy="3073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083836-1CF5-406F-B0CB-643F37066C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890597" y="2182814"/>
            <a:ext cx="501723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4A8670-0F33-4222-AAC9-96A21C47C3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890597" y="3115949"/>
            <a:ext cx="5017232" cy="3073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1E6970-4A96-4519-9C0E-11E245D56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FEE249-70F5-4359-B699-23D68A503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2AE510-A38C-45EE-B061-CB02E4E3D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968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A9D1A-F943-4838-BA2F-6DF4F2EC9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7685037" cy="13638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FEE401-3424-4696-A6FC-BBEE79379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E9D767-A30A-4508-B510-99AB91737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0979DC-F3D5-43AB-8A0F-9C8A14E0C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5894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DCDA0B-9BEE-4B57-8F97-96D5645D0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282AF2-09A1-4A1C-AEB6-577962B71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4D99D9-82B1-496C-ABBC-4FF0C375D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289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7D9AFA4-EB8E-4091-A5E2-1B9D163A070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Color Fill">
            <a:extLst>
              <a:ext uri="{FF2B5EF4-FFF2-40B4-BE49-F238E27FC236}">
                <a16:creationId xmlns:a16="http://schemas.microsoft.com/office/drawing/2014/main" id="{F25018FE-FB44-4E2E-A181-B3476F3E855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6C7CD4B-70DE-49E2-A336-B6F43F58FFA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/>
        </p:nvGrpSpPr>
        <p:grpSpPr>
          <a:xfrm>
            <a:off x="10300855" y="0"/>
            <a:ext cx="1891145" cy="5600700"/>
            <a:chOff x="10300855" y="0"/>
            <a:chExt cx="1891145" cy="560070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B4B8BFC9-6F67-47CB-BAE4-45260FBAF397}"/>
                </a:ext>
              </a:extLst>
            </p:cNvPr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6" name="Graphic 9">
              <a:extLst>
                <a:ext uri="{FF2B5EF4-FFF2-40B4-BE49-F238E27FC236}">
                  <a16:creationId xmlns:a16="http://schemas.microsoft.com/office/drawing/2014/main" id="{40F836E5-3C5B-4DE7-B09A-AE00DEE730A9}"/>
                </a:ext>
              </a:extLst>
            </p:cNvPr>
            <p:cNvSpPr/>
            <p:nvPr/>
          </p:nvSpPr>
          <p:spPr>
            <a:xfrm>
              <a:off x="10330568" y="2199078"/>
              <a:ext cx="1195288" cy="119528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lumMod val="75000"/>
                <a:alpha val="65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8E1B8E4-080E-4F43-B33F-59DD21B6B658}"/>
                </a:ext>
              </a:extLst>
            </p:cNvPr>
            <p:cNvSpPr/>
            <p:nvPr/>
          </p:nvSpPr>
          <p:spPr>
            <a:xfrm flipV="1">
              <a:off x="11151383" y="4336822"/>
              <a:ext cx="1040617" cy="1263878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07639D4-740A-4B71-8393-99CA375EB4A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/>
          </p:nvSpPr>
          <p:spPr>
            <a:xfrm>
              <a:off x="11638492" y="2767655"/>
              <a:ext cx="553508" cy="1567713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9" name="Graphic 9">
              <a:extLst>
                <a:ext uri="{FF2B5EF4-FFF2-40B4-BE49-F238E27FC236}">
                  <a16:creationId xmlns:a16="http://schemas.microsoft.com/office/drawing/2014/main" id="{AE7E56E5-1F6A-442B-B5E0-ED19F815D2E2}"/>
                </a:ext>
              </a:extLst>
            </p:cNvPr>
            <p:cNvSpPr/>
            <p:nvPr/>
          </p:nvSpPr>
          <p:spPr>
            <a:xfrm flipH="1">
              <a:off x="10300855" y="0"/>
              <a:ext cx="1891145" cy="1891145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20" name="Graphic 9">
              <a:extLst>
                <a:ext uri="{FF2B5EF4-FFF2-40B4-BE49-F238E27FC236}">
                  <a16:creationId xmlns:a16="http://schemas.microsoft.com/office/drawing/2014/main" id="{3774E986-8FE2-4670-A4C0-96E213269BD7}"/>
                </a:ext>
              </a:extLst>
            </p:cNvPr>
            <p:cNvSpPr/>
            <p:nvPr/>
          </p:nvSpPr>
          <p:spPr>
            <a:xfrm flipH="1">
              <a:off x="10424367" y="122795"/>
              <a:ext cx="1644119" cy="164411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</p:grpSp>
      <p:sp>
        <p:nvSpPr>
          <p:cNvPr id="13" name="Texture">
            <a:extLst>
              <a:ext uri="{FF2B5EF4-FFF2-40B4-BE49-F238E27FC236}">
                <a16:creationId xmlns:a16="http://schemas.microsoft.com/office/drawing/2014/main" id="{3A5846DF-A106-4887-BE2C-DCD89DAA653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67E81C-AA51-44A0-B21C-757B2F3B9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4314825" cy="1957828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0438A-298D-4466-B55D-F466C345C3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668049"/>
            <a:ext cx="4875212" cy="523125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143104-0579-4974-88D2-61DF1A30D3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2749024"/>
            <a:ext cx="4314825" cy="311996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A32755-0632-47CB-AA69-7EFB212FA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ED0B4F-5B59-4064-A88B-E9938A40F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512E7F-93B8-4E93-BCB3-ADE74FC15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492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F3C1870-4E69-4DE7-BF2F-DE8A7881C64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Color Fill">
            <a:extLst>
              <a:ext uri="{FF2B5EF4-FFF2-40B4-BE49-F238E27FC236}">
                <a16:creationId xmlns:a16="http://schemas.microsoft.com/office/drawing/2014/main" id="{7439AB1C-A8A1-4745-9625-B18FE9160BB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1ADDC4D-D9AA-48F8-BD10-2D20F14607A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/>
        </p:nvGrpSpPr>
        <p:grpSpPr>
          <a:xfrm>
            <a:off x="10300855" y="0"/>
            <a:ext cx="1891145" cy="5600700"/>
            <a:chOff x="10300855" y="0"/>
            <a:chExt cx="1891145" cy="560070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C1136312-3085-4615-A743-4EE531585B11}"/>
                </a:ext>
              </a:extLst>
            </p:cNvPr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6" name="Graphic 9">
              <a:extLst>
                <a:ext uri="{FF2B5EF4-FFF2-40B4-BE49-F238E27FC236}">
                  <a16:creationId xmlns:a16="http://schemas.microsoft.com/office/drawing/2014/main" id="{29539FE4-376B-4187-A80A-C98EBA23DA30}"/>
                </a:ext>
              </a:extLst>
            </p:cNvPr>
            <p:cNvSpPr/>
            <p:nvPr/>
          </p:nvSpPr>
          <p:spPr>
            <a:xfrm>
              <a:off x="10330568" y="2199078"/>
              <a:ext cx="1195288" cy="119528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lumMod val="75000"/>
                <a:alpha val="65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11DC5D7-2276-4A57-8783-A0EFB00416E9}"/>
                </a:ext>
              </a:extLst>
            </p:cNvPr>
            <p:cNvSpPr/>
            <p:nvPr/>
          </p:nvSpPr>
          <p:spPr>
            <a:xfrm flipV="1">
              <a:off x="11151383" y="4336822"/>
              <a:ext cx="1040617" cy="1263878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7D5B578-4971-4ADC-97D8-B9CEF52AA71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/>
          </p:nvSpPr>
          <p:spPr>
            <a:xfrm>
              <a:off x="11638492" y="2767655"/>
              <a:ext cx="553508" cy="1567713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9" name="Graphic 9">
              <a:extLst>
                <a:ext uri="{FF2B5EF4-FFF2-40B4-BE49-F238E27FC236}">
                  <a16:creationId xmlns:a16="http://schemas.microsoft.com/office/drawing/2014/main" id="{2D968E77-E43D-4870-93BC-CBF1947336B3}"/>
                </a:ext>
              </a:extLst>
            </p:cNvPr>
            <p:cNvSpPr/>
            <p:nvPr/>
          </p:nvSpPr>
          <p:spPr>
            <a:xfrm flipH="1">
              <a:off x="10300855" y="0"/>
              <a:ext cx="1891145" cy="1891145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20" name="Graphic 9">
              <a:extLst>
                <a:ext uri="{FF2B5EF4-FFF2-40B4-BE49-F238E27FC236}">
                  <a16:creationId xmlns:a16="http://schemas.microsoft.com/office/drawing/2014/main" id="{1221D41A-E71E-4587-A876-F8778E7C03E1}"/>
                </a:ext>
              </a:extLst>
            </p:cNvPr>
            <p:cNvSpPr/>
            <p:nvPr/>
          </p:nvSpPr>
          <p:spPr>
            <a:xfrm flipH="1">
              <a:off x="10424367" y="122795"/>
              <a:ext cx="1644119" cy="164411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</p:grpSp>
      <p:sp>
        <p:nvSpPr>
          <p:cNvPr id="13" name="Texture">
            <a:extLst>
              <a:ext uri="{FF2B5EF4-FFF2-40B4-BE49-F238E27FC236}">
                <a16:creationId xmlns:a16="http://schemas.microsoft.com/office/drawing/2014/main" id="{50457195-385D-490A-91AB-30B969C6195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06FF6D-24FA-4E04-90ED-7DBE228B2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4314825" cy="2235711"/>
          </a:xfrm>
        </p:spPr>
        <p:txBody>
          <a:bodyPr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32D78B-0E21-420F-9DFF-6131CB0F7E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668049"/>
            <a:ext cx="4958436" cy="523125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AC2A57-1064-4391-B96B-4D04305E0B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2941222"/>
            <a:ext cx="4314825" cy="292776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D04EB0-850A-4256-8D12-E01A201A4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9CF4AF-C757-4552-AB8A-3B89C3746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62A368-F12B-4B5E-82F0-A6AEE6AF2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675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A5B40-C529-41A6-8D06-07AF9430A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B5A354-E2A8-4A91-9D7A-36D9E0915C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5D3944-2E3D-42BC-B83D-7630699D4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FC57FA-204E-4A7A-BAE2-DF17BB0FF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BDA36D-49FF-495A-8E25-4CCC98E39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2508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44ECD05-4E94-4A60-8FDA-700BF100B0B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Color Fill">
            <a:extLst>
              <a:ext uri="{FF2B5EF4-FFF2-40B4-BE49-F238E27FC236}">
                <a16:creationId xmlns:a16="http://schemas.microsoft.com/office/drawing/2014/main" id="{8BCB0EB2-4067-418C-9465-9D4C71240E0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4E37999-41E7-446D-8C53-B904C3CE87A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/>
        </p:nvGrpSpPr>
        <p:grpSpPr>
          <a:xfrm>
            <a:off x="10300855" y="0"/>
            <a:ext cx="1891145" cy="5600700"/>
            <a:chOff x="10300855" y="0"/>
            <a:chExt cx="1891145" cy="560070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438A90E8-87F8-4150-B5EB-E19C8A01AFB9}"/>
                </a:ext>
              </a:extLst>
            </p:cNvPr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0" name="Graphic 9">
              <a:extLst>
                <a:ext uri="{FF2B5EF4-FFF2-40B4-BE49-F238E27FC236}">
                  <a16:creationId xmlns:a16="http://schemas.microsoft.com/office/drawing/2014/main" id="{724DCA1C-A8E8-4F90-8FAE-85B1426C108A}"/>
                </a:ext>
              </a:extLst>
            </p:cNvPr>
            <p:cNvSpPr/>
            <p:nvPr/>
          </p:nvSpPr>
          <p:spPr>
            <a:xfrm>
              <a:off x="10330568" y="2199078"/>
              <a:ext cx="1195288" cy="119528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lumMod val="75000"/>
                <a:alpha val="65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158D6291-6756-44E3-9FCE-0B2ECA5EE664}"/>
                </a:ext>
              </a:extLst>
            </p:cNvPr>
            <p:cNvSpPr/>
            <p:nvPr/>
          </p:nvSpPr>
          <p:spPr>
            <a:xfrm flipV="1">
              <a:off x="11151383" y="4336822"/>
              <a:ext cx="1040617" cy="1263878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37CA96E-9DD9-4172-B63B-50DF43B576D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/>
          </p:nvSpPr>
          <p:spPr>
            <a:xfrm>
              <a:off x="11638492" y="2767655"/>
              <a:ext cx="553508" cy="1567713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3" name="Graphic 9">
              <a:extLst>
                <a:ext uri="{FF2B5EF4-FFF2-40B4-BE49-F238E27FC236}">
                  <a16:creationId xmlns:a16="http://schemas.microsoft.com/office/drawing/2014/main" id="{B335AFFE-BF3D-491C-8255-692B9DAC6775}"/>
                </a:ext>
              </a:extLst>
            </p:cNvPr>
            <p:cNvSpPr/>
            <p:nvPr/>
          </p:nvSpPr>
          <p:spPr>
            <a:xfrm flipH="1">
              <a:off x="10300855" y="0"/>
              <a:ext cx="1891145" cy="1891145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14" name="Graphic 9">
              <a:extLst>
                <a:ext uri="{FF2B5EF4-FFF2-40B4-BE49-F238E27FC236}">
                  <a16:creationId xmlns:a16="http://schemas.microsoft.com/office/drawing/2014/main" id="{AA052AAF-7A7C-4EDB-AE2C-FCA3A756C4E5}"/>
                </a:ext>
              </a:extLst>
            </p:cNvPr>
            <p:cNvSpPr/>
            <p:nvPr/>
          </p:nvSpPr>
          <p:spPr>
            <a:xfrm flipH="1">
              <a:off x="10424367" y="122795"/>
              <a:ext cx="1644119" cy="164411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</p:grpSp>
      <p:sp>
        <p:nvSpPr>
          <p:cNvPr id="20" name="Texture">
            <a:extLst>
              <a:ext uri="{FF2B5EF4-FFF2-40B4-BE49-F238E27FC236}">
                <a16:creationId xmlns:a16="http://schemas.microsoft.com/office/drawing/2014/main" id="{31F99E9D-6528-47AC-B178-7032D0E17DF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4DD302-622D-4E42-BD6F-FAAA98B372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06311" y="668049"/>
            <a:ext cx="2628900" cy="55089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70D9F5-C907-405F-BE11-571C61745E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668049"/>
            <a:ext cx="6689098" cy="55089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CFD860-3FBD-4FE7-A9FD-1D4A4D10A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0A367B-81B3-4BD3-9C95-18EC0710A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7D8E54-346D-4D66-BF99-96DA43F80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866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F358BAA-9C8A-4E17-BAD8-32FD6FFEA73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Color Fill">
            <a:extLst>
              <a:ext uri="{FF2B5EF4-FFF2-40B4-BE49-F238E27FC236}">
                <a16:creationId xmlns:a16="http://schemas.microsoft.com/office/drawing/2014/main" id="{4D6F41A4-BEE3-4935-9371-4ADEA67A22F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726F010-956A-40BC-8A1F-8002DC729B4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/>
        </p:nvGrpSpPr>
        <p:grpSpPr>
          <a:xfrm>
            <a:off x="8351566" y="0"/>
            <a:ext cx="3840434" cy="6858000"/>
            <a:chOff x="8351565" y="0"/>
            <a:chExt cx="3840434" cy="6858000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D386E468-0048-46C4-ADDD-FBE7A6AE9F31}"/>
                </a:ext>
              </a:extLst>
            </p:cNvPr>
            <p:cNvSpPr/>
            <p:nvPr/>
          </p:nvSpPr>
          <p:spPr>
            <a:xfrm>
              <a:off x="11260165" y="519204"/>
              <a:ext cx="474635" cy="47463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5B35ED4-0C31-4C8C-A45E-6A3EDEAB2867}"/>
                </a:ext>
              </a:extLst>
            </p:cNvPr>
            <p:cNvSpPr/>
            <p:nvPr/>
          </p:nvSpPr>
          <p:spPr>
            <a:xfrm>
              <a:off x="8385871" y="0"/>
              <a:ext cx="2955657" cy="679194"/>
            </a:xfrm>
            <a:custGeom>
              <a:avLst/>
              <a:gdLst>
                <a:gd name="connsiteX0" fmla="*/ 0 w 2955657"/>
                <a:gd name="connsiteY0" fmla="*/ 0 h 679194"/>
                <a:gd name="connsiteX1" fmla="*/ 2955657 w 2955657"/>
                <a:gd name="connsiteY1" fmla="*/ 0 h 679194"/>
                <a:gd name="connsiteX2" fmla="*/ 2892839 w 2955657"/>
                <a:gd name="connsiteY2" fmla="*/ 84007 h 679194"/>
                <a:gd name="connsiteX3" fmla="*/ 1630760 w 2955657"/>
                <a:gd name="connsiteY3" fmla="*/ 679194 h 679194"/>
                <a:gd name="connsiteX4" fmla="*/ 0 w 2955657"/>
                <a:gd name="connsiteY4" fmla="*/ 679194 h 679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55657" h="679194">
                  <a:moveTo>
                    <a:pt x="0" y="0"/>
                  </a:moveTo>
                  <a:lnTo>
                    <a:pt x="2955657" y="0"/>
                  </a:lnTo>
                  <a:lnTo>
                    <a:pt x="2892839" y="84007"/>
                  </a:lnTo>
                  <a:cubicBezTo>
                    <a:pt x="2592855" y="447504"/>
                    <a:pt x="2138868" y="679194"/>
                    <a:pt x="1630760" y="679194"/>
                  </a:cubicBezTo>
                  <a:lnTo>
                    <a:pt x="0" y="679194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40A1EF3-FA93-48F4-9F82-BC0C79635750}"/>
                </a:ext>
              </a:extLst>
            </p:cNvPr>
            <p:cNvSpPr/>
            <p:nvPr/>
          </p:nvSpPr>
          <p:spPr>
            <a:xfrm>
              <a:off x="8351565" y="4121414"/>
              <a:ext cx="3266317" cy="2736586"/>
            </a:xfrm>
            <a:custGeom>
              <a:avLst/>
              <a:gdLst>
                <a:gd name="connsiteX0" fmla="*/ 1635557 w 3266317"/>
                <a:gd name="connsiteY0" fmla="*/ 0 h 2736586"/>
                <a:gd name="connsiteX1" fmla="*/ 3266317 w 3266317"/>
                <a:gd name="connsiteY1" fmla="*/ 0 h 2736586"/>
                <a:gd name="connsiteX2" fmla="*/ 3266317 w 3266317"/>
                <a:gd name="connsiteY2" fmla="*/ 1630760 h 2736586"/>
                <a:gd name="connsiteX3" fmla="*/ 2892838 w 3266317"/>
                <a:gd name="connsiteY3" fmla="*/ 2671131 h 2736586"/>
                <a:gd name="connsiteX4" fmla="*/ 2833348 w 3266317"/>
                <a:gd name="connsiteY4" fmla="*/ 2736586 h 2736586"/>
                <a:gd name="connsiteX5" fmla="*/ 0 w 3266317"/>
                <a:gd name="connsiteY5" fmla="*/ 2736586 h 2736586"/>
                <a:gd name="connsiteX6" fmla="*/ 0 w 3266317"/>
                <a:gd name="connsiteY6" fmla="*/ 1635558 h 2736586"/>
                <a:gd name="connsiteX7" fmla="*/ 1635557 w 3266317"/>
                <a:gd name="connsiteY7" fmla="*/ 0 h 2736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66317" h="2736586">
                  <a:moveTo>
                    <a:pt x="1635557" y="0"/>
                  </a:moveTo>
                  <a:lnTo>
                    <a:pt x="3266317" y="0"/>
                  </a:lnTo>
                  <a:lnTo>
                    <a:pt x="3266317" y="1630760"/>
                  </a:lnTo>
                  <a:cubicBezTo>
                    <a:pt x="3266317" y="2025955"/>
                    <a:pt x="3126159" y="2388411"/>
                    <a:pt x="2892838" y="2671131"/>
                  </a:cubicBezTo>
                  <a:lnTo>
                    <a:pt x="2833348" y="2736586"/>
                  </a:lnTo>
                  <a:lnTo>
                    <a:pt x="0" y="2736586"/>
                  </a:lnTo>
                  <a:lnTo>
                    <a:pt x="0" y="1635558"/>
                  </a:lnTo>
                  <a:cubicBezTo>
                    <a:pt x="0" y="732255"/>
                    <a:pt x="732254" y="0"/>
                    <a:pt x="1635557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985F09D-6969-44D0-B04F-4EDE0FEDAF63}"/>
                </a:ext>
              </a:extLst>
            </p:cNvPr>
            <p:cNvSpPr/>
            <p:nvPr/>
          </p:nvSpPr>
          <p:spPr>
            <a:xfrm>
              <a:off x="11755674" y="3386384"/>
              <a:ext cx="436325" cy="1309674"/>
            </a:xfrm>
            <a:custGeom>
              <a:avLst/>
              <a:gdLst>
                <a:gd name="connsiteX0" fmla="*/ 470325 w 477612"/>
                <a:gd name="connsiteY0" fmla="*/ 0 h 1433600"/>
                <a:gd name="connsiteX1" fmla="*/ 475607 w 477612"/>
                <a:gd name="connsiteY1" fmla="*/ 3701 h 1433600"/>
                <a:gd name="connsiteX2" fmla="*/ 477612 w 477612"/>
                <a:gd name="connsiteY2" fmla="*/ 5160 h 1433600"/>
                <a:gd name="connsiteX3" fmla="*/ 477612 w 477612"/>
                <a:gd name="connsiteY3" fmla="*/ 1428441 h 1433600"/>
                <a:gd name="connsiteX4" fmla="*/ 475607 w 477612"/>
                <a:gd name="connsiteY4" fmla="*/ 1429900 h 1433600"/>
                <a:gd name="connsiteX5" fmla="*/ 470325 w 477612"/>
                <a:gd name="connsiteY5" fmla="*/ 1433600 h 1433600"/>
                <a:gd name="connsiteX6" fmla="*/ 0 w 477612"/>
                <a:gd name="connsiteY6" fmla="*/ 716800 h 1433600"/>
                <a:gd name="connsiteX7" fmla="*/ 470325 w 477612"/>
                <a:gd name="connsiteY7" fmla="*/ 0 h 143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77612" h="1433600">
                  <a:moveTo>
                    <a:pt x="470325" y="0"/>
                  </a:moveTo>
                  <a:cubicBezTo>
                    <a:pt x="470325" y="0"/>
                    <a:pt x="472162" y="1254"/>
                    <a:pt x="475607" y="3701"/>
                  </a:cubicBezTo>
                  <a:lnTo>
                    <a:pt x="477612" y="5160"/>
                  </a:lnTo>
                  <a:lnTo>
                    <a:pt x="477612" y="1428441"/>
                  </a:lnTo>
                  <a:lnTo>
                    <a:pt x="475607" y="1429900"/>
                  </a:lnTo>
                  <a:cubicBezTo>
                    <a:pt x="472162" y="1432347"/>
                    <a:pt x="470325" y="1433600"/>
                    <a:pt x="470325" y="1433600"/>
                  </a:cubicBezTo>
                  <a:cubicBezTo>
                    <a:pt x="470325" y="1433600"/>
                    <a:pt x="0" y="1112672"/>
                    <a:pt x="0" y="716800"/>
                  </a:cubicBezTo>
                  <a:cubicBezTo>
                    <a:pt x="0" y="320929"/>
                    <a:pt x="470325" y="0"/>
                    <a:pt x="470325" y="0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20000"/>
                  <a:lumOff val="80000"/>
                </a:schemeClr>
              </a:fgClr>
              <a:bgClr>
                <a:schemeClr val="accent4">
                  <a:lumMod val="60000"/>
                  <a:lumOff val="40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dirty="0"/>
            </a:p>
          </p:txBody>
        </p:sp>
        <p:sp>
          <p:nvSpPr>
            <p:cNvPr id="18" name="Graphic 9">
              <a:extLst>
                <a:ext uri="{FF2B5EF4-FFF2-40B4-BE49-F238E27FC236}">
                  <a16:creationId xmlns:a16="http://schemas.microsoft.com/office/drawing/2014/main" id="{003913A0-A3C0-4ED8-8920-318068FBC46F}"/>
                </a:ext>
              </a:extLst>
            </p:cNvPr>
            <p:cNvSpPr/>
            <p:nvPr/>
          </p:nvSpPr>
          <p:spPr>
            <a:xfrm>
              <a:off x="8385870" y="791588"/>
              <a:ext cx="3232012" cy="3232012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sp>
        <p:nvSpPr>
          <p:cNvPr id="12" name="Texture">
            <a:extLst>
              <a:ext uri="{FF2B5EF4-FFF2-40B4-BE49-F238E27FC236}">
                <a16:creationId xmlns:a16="http://schemas.microsoft.com/office/drawing/2014/main" id="{7FE1D329-7CB2-4DF5-B0C0-36DD19EBC66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13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3083B5-1505-44FE-894D-AA1AB6D60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7685037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3F3930-F8C8-43B1-BC1A-6264F4ACB2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096713"/>
            <a:ext cx="7685037" cy="4080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F4F2F7-3ECA-43D7-BFF3-FBB407AEAB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11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08048B-57AF-4F53-BC84-8E0A1033FBEC}" type="datetimeFigureOut">
              <a:rPr lang="en-US" smtClean="0"/>
              <a:pPr/>
              <a:t>5/18/2026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3A193F-0B61-43DD-8E45-EFEAC43E38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15544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11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625961-D3A8-4945-AEE4-EE1952DBDC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54512" y="6355080"/>
            <a:ext cx="795528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11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8A8A1B-4E1E-43EF-8A39-7D4A3879B94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24316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Background Fill">
            <a:extLst>
              <a:ext uri="{FF2B5EF4-FFF2-40B4-BE49-F238E27FC236}">
                <a16:creationId xmlns:a16="http://schemas.microsoft.com/office/drawing/2014/main" id="{B6D694DB-A3FC-4F14-A225-17BEBA4416D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pic>
        <p:nvPicPr>
          <p:cNvPr id="24" name="Picture 3">
            <a:extLst>
              <a:ext uri="{FF2B5EF4-FFF2-40B4-BE49-F238E27FC236}">
                <a16:creationId xmlns:a16="http://schemas.microsoft.com/office/drawing/2014/main" id="{4E7F912C-F385-6316-E824-68680813D3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3227" r="6" b="11550"/>
          <a:stretch/>
        </p:blipFill>
        <p:spPr>
          <a:xfrm>
            <a:off x="20" y="10"/>
            <a:ext cx="12188921" cy="685799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34458" y="2036153"/>
            <a:ext cx="9381978" cy="2539780"/>
          </a:xfrm>
        </p:spPr>
        <p:txBody>
          <a:bodyPr>
            <a:normAutofit/>
          </a:bodyPr>
          <a:lstStyle/>
          <a:p>
            <a:r>
              <a:rPr lang="ru-RU" sz="5000" dirty="0">
                <a:solidFill>
                  <a:srgbClr val="FFFFFF"/>
                </a:solidFill>
                <a:latin typeface="Verdana"/>
                <a:ea typeface="+mj-lt"/>
                <a:cs typeface="Arial"/>
              </a:rPr>
              <a:t>Tīmekļa vietne</a:t>
            </a:r>
            <a:r>
              <a:rPr lang="ru-RU" sz="5000" dirty="0">
                <a:solidFill>
                  <a:srgbClr val="FFFFFF"/>
                </a:solidFill>
                <a:latin typeface="Verdana"/>
                <a:ea typeface="+mj-lt"/>
                <a:cs typeface="+mj-lt"/>
              </a:rPr>
              <a:t> datoru un komponentu tirdzniecīb</a:t>
            </a:r>
            <a:r>
              <a:rPr lang="en-GB" sz="5000" dirty="0">
                <a:solidFill>
                  <a:srgbClr val="FFFFFF"/>
                </a:solidFill>
                <a:latin typeface="Verdana"/>
                <a:ea typeface="+mj-lt"/>
                <a:cs typeface="+mj-lt"/>
              </a:rPr>
              <a:t>ā</a:t>
            </a:r>
            <a:endParaRPr lang="ru-RU" sz="5000" dirty="0">
              <a:latin typeface="Verdana"/>
              <a:ea typeface="Verdana"/>
            </a:endParaRPr>
          </a:p>
        </p:txBody>
      </p:sp>
      <p:grpSp>
        <p:nvGrpSpPr>
          <p:cNvPr id="25" name="Group 10">
            <a:extLst>
              <a:ext uri="{FF2B5EF4-FFF2-40B4-BE49-F238E27FC236}">
                <a16:creationId xmlns:a16="http://schemas.microsoft.com/office/drawing/2014/main" id="{D4433877-8295-4A0D-94F7-BFD8A63360E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300855" y="0"/>
            <a:ext cx="1891145" cy="5600700"/>
            <a:chOff x="10300855" y="0"/>
            <a:chExt cx="1891145" cy="560070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1FD208E-0612-408E-9D15-241B4532517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3" name="Graphic 9">
              <a:extLst>
                <a:ext uri="{FF2B5EF4-FFF2-40B4-BE49-F238E27FC236}">
                  <a16:creationId xmlns:a16="http://schemas.microsoft.com/office/drawing/2014/main" id="{0005FEAC-EF53-4E59-AFAA-B72D0F702BA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30568" y="2199078"/>
              <a:ext cx="1195288" cy="119528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lumMod val="75000"/>
                <a:alpha val="65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0D9F4E7-B583-4E44-AE18-421B268FBAF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V="1">
              <a:off x="11151383" y="4336822"/>
              <a:ext cx="1040617" cy="1263878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3C41D6DC-5CB2-4929-AAA8-328E7AA84D7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38492" y="2767655"/>
              <a:ext cx="553508" cy="1567713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6" name="Graphic 9">
              <a:extLst>
                <a:ext uri="{FF2B5EF4-FFF2-40B4-BE49-F238E27FC236}">
                  <a16:creationId xmlns:a16="http://schemas.microsoft.com/office/drawing/2014/main" id="{810D7DDE-644B-4D22-86B4-C3FEDF985A5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10300855" y="0"/>
              <a:ext cx="1891145" cy="1891145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17" name="Graphic 9">
              <a:extLst>
                <a:ext uri="{FF2B5EF4-FFF2-40B4-BE49-F238E27FC236}">
                  <a16:creationId xmlns:a16="http://schemas.microsoft.com/office/drawing/2014/main" id="{5777DB78-76A6-4C7E-884B-AE5A8540D7D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10424367" y="122795"/>
              <a:ext cx="1644119" cy="164411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</p:grpSp>
      <p:pic>
        <p:nvPicPr>
          <p:cNvPr id="4" name="Рисунок 3" descr="Изображение выглядит как черный, темнота&#10;&#10;Автоматически созданное описание">
            <a:extLst>
              <a:ext uri="{FF2B5EF4-FFF2-40B4-BE49-F238E27FC236}">
                <a16:creationId xmlns:a16="http://schemas.microsoft.com/office/drawing/2014/main" id="{914808A9-07F2-299B-A2CB-68B334CF75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222" y="264979"/>
            <a:ext cx="2184400" cy="2164080"/>
          </a:xfrm>
          <a:prstGeom prst="rect">
            <a:avLst/>
          </a:prstGeom>
          <a:ln>
            <a:solidFill>
              <a:srgbClr val="4472C4"/>
            </a:solidFill>
          </a:ln>
        </p:spPr>
      </p:pic>
      <p:pic>
        <p:nvPicPr>
          <p:cNvPr id="5" name="Рисунок 4" descr="Vēsture un simbolika – RVT">
            <a:extLst>
              <a:ext uri="{FF2B5EF4-FFF2-40B4-BE49-F238E27FC236}">
                <a16:creationId xmlns:a16="http://schemas.microsoft.com/office/drawing/2014/main" id="{F960A10D-05E9-C3DB-CDAD-8BDE5C6597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0127" y="394975"/>
            <a:ext cx="1123167" cy="1103111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D518C91-AF93-46C1-12F2-28EF1C5F2C97}"/>
              </a:ext>
            </a:extLst>
          </p:cNvPr>
          <p:cNvSpPr txBox="1"/>
          <p:nvPr/>
        </p:nvSpPr>
        <p:spPr>
          <a:xfrm>
            <a:off x="233024" y="5105728"/>
            <a:ext cx="6294939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2000" b="1" dirty="0">
                <a:latin typeface="Verdana"/>
                <a:cs typeface="Segoe UI"/>
              </a:rPr>
              <a:t>Daniils Onufrijuks</a:t>
            </a:r>
            <a:r>
              <a:rPr lang="ru-RU" sz="2000" dirty="0">
                <a:latin typeface="Verdana"/>
                <a:cs typeface="Segoe UI"/>
              </a:rPr>
              <a:t> </a:t>
            </a:r>
            <a:r>
              <a:rPr lang="en-US" sz="2000" dirty="0">
                <a:latin typeface="Verdana"/>
                <a:cs typeface="Segoe UI"/>
              </a:rPr>
              <a:t>​</a:t>
            </a:r>
            <a:endParaRPr lang="ru-RU" sz="2000" dirty="0">
              <a:latin typeface="Verdana"/>
              <a:ea typeface="Verdana"/>
            </a:endParaRPr>
          </a:p>
          <a:p>
            <a:r>
              <a:rPr lang="ru-RU" sz="2000" dirty="0">
                <a:latin typeface="Verdana"/>
                <a:cs typeface="Segoe UI"/>
              </a:rPr>
              <a:t>DP</a:t>
            </a:r>
            <a:r>
              <a:rPr lang="lv-LV" sz="2000" dirty="0">
                <a:latin typeface="Verdana"/>
                <a:cs typeface="Segoe UI"/>
              </a:rPr>
              <a:t>4</a:t>
            </a:r>
            <a:r>
              <a:rPr lang="ru-RU" sz="2000" dirty="0">
                <a:latin typeface="Verdana"/>
                <a:cs typeface="Segoe UI"/>
              </a:rPr>
              <a:t>-1</a:t>
            </a:r>
            <a:r>
              <a:rPr lang="en-US" sz="2000" dirty="0">
                <a:latin typeface="Verdana"/>
                <a:cs typeface="Segoe UI"/>
              </a:rPr>
              <a:t>​</a:t>
            </a:r>
            <a:endParaRPr lang="en-US" sz="2000" dirty="0">
              <a:latin typeface="Verdana"/>
              <a:ea typeface="Verdana"/>
              <a:cs typeface="Segoe UI"/>
            </a:endParaRPr>
          </a:p>
          <a:p>
            <a:r>
              <a:rPr lang="ru-RU" sz="2000" dirty="0" err="1">
                <a:latin typeface="Verdana"/>
                <a:cs typeface="Segoe UI"/>
              </a:rPr>
              <a:t>Rīgas</a:t>
            </a:r>
            <a:r>
              <a:rPr lang="ru-RU" sz="2000" dirty="0">
                <a:latin typeface="Verdana"/>
                <a:cs typeface="Segoe UI"/>
              </a:rPr>
              <a:t> </a:t>
            </a:r>
            <a:r>
              <a:rPr lang="ru-RU" sz="2000" dirty="0" err="1">
                <a:latin typeface="Verdana"/>
                <a:cs typeface="Segoe UI"/>
              </a:rPr>
              <a:t>Valsts</a:t>
            </a:r>
            <a:r>
              <a:rPr lang="ru-RU" sz="2000" dirty="0">
                <a:latin typeface="Verdana"/>
                <a:cs typeface="Segoe UI"/>
              </a:rPr>
              <a:t> </a:t>
            </a:r>
            <a:r>
              <a:rPr lang="ru-RU" sz="2000" dirty="0" err="1">
                <a:latin typeface="Verdana"/>
                <a:cs typeface="Segoe UI"/>
              </a:rPr>
              <a:t>Tehnikums</a:t>
            </a:r>
            <a:endParaRPr lang="ru-RU" sz="2000" dirty="0">
              <a:latin typeface="Verdana"/>
              <a:ea typeface="Verdana"/>
              <a:cs typeface="Segoe UI"/>
            </a:endParaRPr>
          </a:p>
          <a:p>
            <a:r>
              <a:rPr lang="ru-RU" sz="2000" dirty="0" err="1">
                <a:latin typeface="Verdana"/>
                <a:ea typeface="+mn-lt"/>
                <a:cs typeface="+mn-lt"/>
              </a:rPr>
              <a:t>Datorikas</a:t>
            </a:r>
            <a:r>
              <a:rPr lang="ru-RU" sz="2000" dirty="0">
                <a:latin typeface="Verdana"/>
                <a:ea typeface="+mn-lt"/>
                <a:cs typeface="+mn-lt"/>
              </a:rPr>
              <a:t> </a:t>
            </a:r>
            <a:r>
              <a:rPr lang="ru-RU" sz="2000" dirty="0" err="1">
                <a:latin typeface="Verdana"/>
                <a:ea typeface="+mn-lt"/>
                <a:cs typeface="+mn-lt"/>
              </a:rPr>
              <a:t>nodaļa</a:t>
            </a:r>
            <a:r>
              <a:rPr lang="ru-RU" sz="2000" dirty="0">
                <a:latin typeface="Verdana"/>
                <a:ea typeface="+mn-lt"/>
                <a:cs typeface="+mn-lt"/>
              </a:rPr>
              <a:t>, </a:t>
            </a:r>
            <a:r>
              <a:rPr lang="ru-RU" sz="2000" dirty="0" err="1">
                <a:latin typeface="Verdana"/>
                <a:ea typeface="+mn-lt"/>
                <a:cs typeface="+mn-lt"/>
              </a:rPr>
              <a:t>programmēšanas</a:t>
            </a:r>
            <a:r>
              <a:rPr lang="ru-RU" sz="2000" dirty="0">
                <a:latin typeface="Verdana"/>
                <a:ea typeface="+mn-lt"/>
                <a:cs typeface="+mn-lt"/>
              </a:rPr>
              <a:t> </a:t>
            </a:r>
            <a:r>
              <a:rPr lang="ru-RU" sz="2000" dirty="0" err="1">
                <a:latin typeface="Verdana"/>
                <a:ea typeface="+mn-lt"/>
                <a:cs typeface="+mn-lt"/>
              </a:rPr>
              <a:t>tehniķis</a:t>
            </a:r>
            <a:endParaRPr lang="ru-RU" sz="2000" dirty="0">
              <a:latin typeface="Verdana"/>
            </a:endParaRPr>
          </a:p>
          <a:p>
            <a:r>
              <a:rPr lang="ru-RU" sz="2000" dirty="0">
                <a:latin typeface="Verdana"/>
                <a:cs typeface="Segoe UI"/>
              </a:rPr>
              <a:t>15.05.202</a:t>
            </a:r>
            <a:r>
              <a:rPr lang="lv-LV" sz="2000" dirty="0">
                <a:latin typeface="Verdana"/>
                <a:cs typeface="Segoe UI"/>
              </a:rPr>
              <a:t>6</a:t>
            </a:r>
            <a:endParaRPr lang="ru-RU" sz="2000" dirty="0">
              <a:latin typeface="Verdana"/>
              <a:ea typeface="Verdan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433459-AE08-C133-6129-357049545DFC}"/>
              </a:ext>
            </a:extLst>
          </p:cNvPr>
          <p:cNvSpPr txBox="1"/>
          <p:nvPr/>
        </p:nvSpPr>
        <p:spPr>
          <a:xfrm>
            <a:off x="10642330" y="1498242"/>
            <a:ext cx="119876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1400" dirty="0">
                <a:latin typeface="Verdana" panose="020B0604030504040204" pitchFamily="34" charset="0"/>
                <a:ea typeface="Verdana" panose="020B0604030504040204" pitchFamily="34" charset="0"/>
              </a:rPr>
              <a:t>1. </a:t>
            </a:r>
            <a:r>
              <a:rPr lang="en-GB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attēls</a:t>
            </a:r>
            <a:endParaRPr lang="ru-RU" sz="1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9065992" y="6184593"/>
            <a:ext cx="3122949" cy="553998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r"/>
            <a:r>
              <a:rPr lang="ru-RU" sz="1000" dirty="0">
                <a:latin typeface="Verdana"/>
                <a:ea typeface="+mn-lt"/>
                <a:cs typeface="+mn-lt"/>
              </a:rPr>
              <a:t>RVT </a:t>
            </a:r>
            <a:r>
              <a:rPr lang="ru-RU" sz="1000">
                <a:ea typeface="+mn-lt"/>
                <a:cs typeface="+mn-lt"/>
              </a:rPr>
              <a:t>[Skatīts 01.02.2026]</a:t>
            </a:r>
            <a:r>
              <a:rPr lang="ru-RU" sz="1000">
                <a:latin typeface="Verdana"/>
                <a:ea typeface="+mn-lt"/>
                <a:cs typeface="+mn-lt"/>
              </a:rPr>
              <a:t> https://www.rvt.lv/wp-content/uploads/2021/03/cropped-RVT-100-gadi-logo-e1616052812909.png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35165157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Background Fill">
            <a:extLst>
              <a:ext uri="{FF2B5EF4-FFF2-40B4-BE49-F238E27FC236}">
                <a16:creationId xmlns:a16="http://schemas.microsoft.com/office/drawing/2014/main" id="{FAFB3478-4AEC-431E-93B2-1593839C16D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Color Fill">
            <a:extLst>
              <a:ext uri="{FF2B5EF4-FFF2-40B4-BE49-F238E27FC236}">
                <a16:creationId xmlns:a16="http://schemas.microsoft.com/office/drawing/2014/main" id="{E0F166C3-D45F-4A92-A291-15B874AD1A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DBB4B8F-57A2-4546-9449-6DBBA6E7C6C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739089" y="-3532"/>
            <a:ext cx="4456394" cy="6861532"/>
            <a:chOff x="7739089" y="-3532"/>
            <a:chExt cx="4456394" cy="6861532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AC31B59C-8450-4595-B395-B86BCB94403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07984" y="4121414"/>
              <a:ext cx="514757" cy="516940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FF4BA6E-92B7-48A3-891F-FF1DE970A28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48375" y="4121414"/>
              <a:ext cx="3266317" cy="2736586"/>
            </a:xfrm>
            <a:custGeom>
              <a:avLst/>
              <a:gdLst>
                <a:gd name="connsiteX0" fmla="*/ 1635557 w 3266317"/>
                <a:gd name="connsiteY0" fmla="*/ 0 h 2736586"/>
                <a:gd name="connsiteX1" fmla="*/ 3266317 w 3266317"/>
                <a:gd name="connsiteY1" fmla="*/ 0 h 2736586"/>
                <a:gd name="connsiteX2" fmla="*/ 3266317 w 3266317"/>
                <a:gd name="connsiteY2" fmla="*/ 1630760 h 2736586"/>
                <a:gd name="connsiteX3" fmla="*/ 2892838 w 3266317"/>
                <a:gd name="connsiteY3" fmla="*/ 2671131 h 2736586"/>
                <a:gd name="connsiteX4" fmla="*/ 2833348 w 3266317"/>
                <a:gd name="connsiteY4" fmla="*/ 2736586 h 2736586"/>
                <a:gd name="connsiteX5" fmla="*/ 0 w 3266317"/>
                <a:gd name="connsiteY5" fmla="*/ 2736586 h 2736586"/>
                <a:gd name="connsiteX6" fmla="*/ 0 w 3266317"/>
                <a:gd name="connsiteY6" fmla="*/ 1635558 h 2736586"/>
                <a:gd name="connsiteX7" fmla="*/ 1635557 w 3266317"/>
                <a:gd name="connsiteY7" fmla="*/ 0 h 2736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66317" h="2736586">
                  <a:moveTo>
                    <a:pt x="1635557" y="0"/>
                  </a:moveTo>
                  <a:lnTo>
                    <a:pt x="3266317" y="0"/>
                  </a:lnTo>
                  <a:lnTo>
                    <a:pt x="3266317" y="1630760"/>
                  </a:lnTo>
                  <a:cubicBezTo>
                    <a:pt x="3266317" y="2025955"/>
                    <a:pt x="3126159" y="2388411"/>
                    <a:pt x="2892838" y="2671131"/>
                  </a:cubicBezTo>
                  <a:lnTo>
                    <a:pt x="2833348" y="2736586"/>
                  </a:lnTo>
                  <a:lnTo>
                    <a:pt x="0" y="2736586"/>
                  </a:lnTo>
                  <a:lnTo>
                    <a:pt x="0" y="1635558"/>
                  </a:lnTo>
                  <a:cubicBezTo>
                    <a:pt x="0" y="732255"/>
                    <a:pt x="732254" y="0"/>
                    <a:pt x="1635557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599F993-966A-49D6-952F-B95A79671AF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759158" y="3404614"/>
              <a:ext cx="436325" cy="1309674"/>
            </a:xfrm>
            <a:custGeom>
              <a:avLst/>
              <a:gdLst>
                <a:gd name="connsiteX0" fmla="*/ 470325 w 477612"/>
                <a:gd name="connsiteY0" fmla="*/ 0 h 1433600"/>
                <a:gd name="connsiteX1" fmla="*/ 475607 w 477612"/>
                <a:gd name="connsiteY1" fmla="*/ 3701 h 1433600"/>
                <a:gd name="connsiteX2" fmla="*/ 477612 w 477612"/>
                <a:gd name="connsiteY2" fmla="*/ 5160 h 1433600"/>
                <a:gd name="connsiteX3" fmla="*/ 477612 w 477612"/>
                <a:gd name="connsiteY3" fmla="*/ 1428441 h 1433600"/>
                <a:gd name="connsiteX4" fmla="*/ 475607 w 477612"/>
                <a:gd name="connsiteY4" fmla="*/ 1429900 h 1433600"/>
                <a:gd name="connsiteX5" fmla="*/ 470325 w 477612"/>
                <a:gd name="connsiteY5" fmla="*/ 1433600 h 1433600"/>
                <a:gd name="connsiteX6" fmla="*/ 0 w 477612"/>
                <a:gd name="connsiteY6" fmla="*/ 716800 h 1433600"/>
                <a:gd name="connsiteX7" fmla="*/ 470325 w 477612"/>
                <a:gd name="connsiteY7" fmla="*/ 0 h 143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77612" h="1433600">
                  <a:moveTo>
                    <a:pt x="470325" y="0"/>
                  </a:moveTo>
                  <a:cubicBezTo>
                    <a:pt x="470325" y="0"/>
                    <a:pt x="472162" y="1254"/>
                    <a:pt x="475607" y="3701"/>
                  </a:cubicBezTo>
                  <a:lnTo>
                    <a:pt x="477612" y="5160"/>
                  </a:lnTo>
                  <a:lnTo>
                    <a:pt x="477612" y="1428441"/>
                  </a:lnTo>
                  <a:lnTo>
                    <a:pt x="475607" y="1429900"/>
                  </a:lnTo>
                  <a:cubicBezTo>
                    <a:pt x="472162" y="1432347"/>
                    <a:pt x="470325" y="1433600"/>
                    <a:pt x="470325" y="1433600"/>
                  </a:cubicBezTo>
                  <a:cubicBezTo>
                    <a:pt x="470325" y="1433600"/>
                    <a:pt x="0" y="1112672"/>
                    <a:pt x="0" y="716800"/>
                  </a:cubicBezTo>
                  <a:cubicBezTo>
                    <a:pt x="0" y="320929"/>
                    <a:pt x="470325" y="0"/>
                    <a:pt x="470325" y="0"/>
                  </a:cubicBezTo>
                  <a:close/>
                </a:path>
              </a:pathLst>
            </a:custGeom>
            <a:pattFill prst="pct5">
              <a:fgClr>
                <a:schemeClr val="tx2">
                  <a:lumMod val="75000"/>
                  <a:lumOff val="25000"/>
                </a:schemeClr>
              </a:fgClr>
              <a:bgClr>
                <a:schemeClr val="accent1">
                  <a:lumMod val="60000"/>
                  <a:lumOff val="40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7" name="Graphic 9">
              <a:extLst>
                <a:ext uri="{FF2B5EF4-FFF2-40B4-BE49-F238E27FC236}">
                  <a16:creationId xmlns:a16="http://schemas.microsoft.com/office/drawing/2014/main" id="{90B896C1-7BD8-4907-8561-4AAB7316DB8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39089" y="-3532"/>
              <a:ext cx="3875603" cy="3875603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tx2">
                <a:lumMod val="25000"/>
                <a:lumOff val="75000"/>
                <a:alpha val="20000"/>
              </a:schemeClr>
            </a:solidFill>
            <a:ln w="20955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sp>
        <p:nvSpPr>
          <p:cNvPr id="19" name="Texture">
            <a:extLst>
              <a:ext uri="{FF2B5EF4-FFF2-40B4-BE49-F238E27FC236}">
                <a16:creationId xmlns:a16="http://schemas.microsoft.com/office/drawing/2014/main" id="{F34FFB17-4733-4A4C-9F36-CE82366CB51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0163B3C-419A-79F1-E327-6B306C88FB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734" y="1160300"/>
            <a:ext cx="8570507" cy="4961609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endParaRPr lang="ru-RU" sz="2400" dirty="0">
              <a:latin typeface="Verdana"/>
              <a:ea typeface="Verdana"/>
            </a:endParaRPr>
          </a:p>
          <a:p>
            <a:pPr>
              <a:lnSpc>
                <a:spcPct val="100000"/>
              </a:lnSpc>
            </a:pPr>
            <a:r>
              <a:rPr lang="lv-LV" sz="2400" dirty="0">
                <a:latin typeface="Verdana"/>
                <a:ea typeface="Verdana"/>
              </a:rPr>
              <a:t>Uzdevuma nostādne</a:t>
            </a:r>
          </a:p>
          <a:p>
            <a:pPr>
              <a:lnSpc>
                <a:spcPct val="100000"/>
              </a:lnSpc>
            </a:pPr>
            <a:r>
              <a:rPr lang="lv-LV" sz="2400" dirty="0">
                <a:latin typeface="Verdana" panose="020B0604030504040204" pitchFamily="34" charset="0"/>
                <a:ea typeface="Verdana" panose="020B0604030504040204" pitchFamily="34" charset="0"/>
              </a:rPr>
              <a:t>Izmantotās tehnoloģijas</a:t>
            </a:r>
          </a:p>
          <a:p>
            <a:pPr>
              <a:lnSpc>
                <a:spcPct val="100000"/>
              </a:lnSpc>
            </a:pPr>
            <a:r>
              <a:rPr lang="en-US" sz="2400" dirty="0" err="1">
                <a:latin typeface="Verdana"/>
                <a:ea typeface="Verdana"/>
              </a:rPr>
              <a:t>Funkcionālās</a:t>
            </a:r>
            <a:r>
              <a:rPr lang="en-US" sz="2400" dirty="0">
                <a:latin typeface="Verdana"/>
                <a:ea typeface="Verdana"/>
              </a:rPr>
              <a:t> </a:t>
            </a:r>
            <a:r>
              <a:rPr lang="en-US" sz="2400" dirty="0" err="1">
                <a:latin typeface="Verdana"/>
                <a:ea typeface="Verdana"/>
              </a:rPr>
              <a:t>dekompozīcijas</a:t>
            </a:r>
            <a:r>
              <a:rPr lang="en-US" sz="2400" dirty="0">
                <a:latin typeface="Verdana"/>
                <a:ea typeface="Verdana"/>
              </a:rPr>
              <a:t> diagramma</a:t>
            </a:r>
            <a:endParaRPr lang="lv-LV" sz="2400" dirty="0">
              <a:latin typeface="Verdana"/>
              <a:ea typeface="Verdana"/>
            </a:endParaRPr>
          </a:p>
          <a:p>
            <a:pPr>
              <a:lnSpc>
                <a:spcPct val="100000"/>
              </a:lnSpc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ER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diagramma</a:t>
            </a:r>
            <a:endParaRPr lang="ru-RU" sz="2400" dirty="0">
              <a:latin typeface="Verdana"/>
              <a:ea typeface="Verdana"/>
            </a:endParaRPr>
          </a:p>
          <a:p>
            <a:pPr>
              <a:lnSpc>
                <a:spcPct val="100000"/>
              </a:lnSpc>
            </a:pPr>
            <a:r>
              <a:rPr lang="en-US" sz="2400" dirty="0">
                <a:latin typeface="Verdana"/>
                <a:ea typeface="Verdana"/>
              </a:rPr>
              <a:t>Datu </a:t>
            </a:r>
            <a:r>
              <a:rPr lang="en-US" sz="2400" dirty="0" err="1">
                <a:latin typeface="Verdana"/>
                <a:ea typeface="Verdana"/>
              </a:rPr>
              <a:t>plūsmas</a:t>
            </a:r>
            <a:r>
              <a:rPr lang="en-US" sz="2400" dirty="0">
                <a:latin typeface="Verdana"/>
                <a:ea typeface="Verdana"/>
              </a:rPr>
              <a:t> </a:t>
            </a:r>
            <a:r>
              <a:rPr lang="en-US" sz="2400" dirty="0" err="1">
                <a:latin typeface="Verdana"/>
                <a:ea typeface="Verdana"/>
              </a:rPr>
              <a:t>diagramma</a:t>
            </a:r>
            <a:endParaRPr lang="lv-LV" sz="2400" dirty="0">
              <a:latin typeface="Verdana"/>
              <a:ea typeface="Verdana"/>
            </a:endParaRPr>
          </a:p>
          <a:p>
            <a:pPr>
              <a:lnSpc>
                <a:spcPct val="100000"/>
              </a:lnSpc>
            </a:pP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Tabulu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saišu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shēma</a:t>
            </a:r>
            <a:endParaRPr lang="lv-LV" sz="2400" dirty="0">
              <a:latin typeface="Verdana"/>
              <a:ea typeface="Verdana"/>
            </a:endParaRPr>
          </a:p>
          <a:p>
            <a:pPr>
              <a:lnSpc>
                <a:spcPct val="100000"/>
              </a:lnSpc>
            </a:pPr>
            <a:r>
              <a:rPr lang="en-US" sz="2400" dirty="0" err="1">
                <a:latin typeface="Verdana"/>
                <a:ea typeface="Verdana"/>
                <a:cs typeface="+mn-lt"/>
              </a:rPr>
              <a:t>Programmas</a:t>
            </a:r>
            <a:r>
              <a:rPr lang="en-US" sz="2400" dirty="0">
                <a:latin typeface="Verdana"/>
                <a:ea typeface="Verdana"/>
                <a:cs typeface="+mn-lt"/>
              </a:rPr>
              <a:t> </a:t>
            </a:r>
            <a:r>
              <a:rPr lang="en-US" sz="2400" dirty="0" err="1">
                <a:latin typeface="Verdana"/>
                <a:ea typeface="Verdana"/>
                <a:cs typeface="+mn-lt"/>
              </a:rPr>
              <a:t>galvenā</a:t>
            </a:r>
            <a:r>
              <a:rPr lang="en-US" sz="2400" dirty="0">
                <a:latin typeface="Verdana"/>
                <a:ea typeface="Verdana"/>
                <a:cs typeface="+mn-lt"/>
              </a:rPr>
              <a:t> </a:t>
            </a:r>
            <a:r>
              <a:rPr lang="en-US" sz="2400" dirty="0" err="1">
                <a:latin typeface="Verdana"/>
                <a:ea typeface="Verdana"/>
                <a:cs typeface="+mn-lt"/>
              </a:rPr>
              <a:t>loga</a:t>
            </a:r>
            <a:r>
              <a:rPr lang="en-US" sz="2400" dirty="0">
                <a:latin typeface="Verdana"/>
                <a:ea typeface="Verdana"/>
                <a:cs typeface="+mn-lt"/>
              </a:rPr>
              <a:t> </a:t>
            </a:r>
            <a:r>
              <a:rPr lang="en-US" sz="2400" dirty="0" err="1">
                <a:latin typeface="Verdana"/>
                <a:ea typeface="Verdana"/>
                <a:cs typeface="+mn-lt"/>
              </a:rPr>
              <a:t>attēls</a:t>
            </a:r>
            <a:r>
              <a:rPr lang="en-US" sz="2400" dirty="0">
                <a:latin typeface="Verdana"/>
                <a:ea typeface="Verdana"/>
                <a:cs typeface="+mn-lt"/>
              </a:rPr>
              <a:t> </a:t>
            </a:r>
            <a:endParaRPr lang="en-US" sz="2400" dirty="0">
              <a:latin typeface="Verdana"/>
              <a:ea typeface="Verdana"/>
            </a:endParaRPr>
          </a:p>
          <a:p>
            <a:pPr>
              <a:lnSpc>
                <a:spcPct val="100000"/>
              </a:lnSpc>
            </a:pPr>
            <a:r>
              <a:rPr lang="ru-RU" sz="2400" dirty="0" err="1">
                <a:latin typeface="Verdana"/>
                <a:ea typeface="Verdana"/>
                <a:cs typeface="+mn-lt"/>
              </a:rPr>
              <a:t>Izmantoto</a:t>
            </a:r>
            <a:r>
              <a:rPr lang="ru-RU" sz="2400" dirty="0">
                <a:latin typeface="Verdana"/>
                <a:ea typeface="Verdana"/>
                <a:cs typeface="+mn-lt"/>
              </a:rPr>
              <a:t> </a:t>
            </a:r>
            <a:r>
              <a:rPr lang="ru-RU" sz="2400" dirty="0" err="1">
                <a:latin typeface="Verdana"/>
                <a:ea typeface="Verdana"/>
                <a:cs typeface="+mn-lt"/>
              </a:rPr>
              <a:t>literatūru</a:t>
            </a:r>
            <a:r>
              <a:rPr lang="ru-RU" sz="2400" dirty="0">
                <a:latin typeface="Verdana"/>
                <a:ea typeface="Verdana"/>
                <a:cs typeface="+mn-lt"/>
              </a:rPr>
              <a:t> </a:t>
            </a:r>
            <a:r>
              <a:rPr lang="ru-RU" sz="2400" dirty="0" err="1">
                <a:latin typeface="Verdana"/>
                <a:ea typeface="Verdana"/>
                <a:cs typeface="+mn-lt"/>
              </a:rPr>
              <a:t>un</a:t>
            </a:r>
            <a:r>
              <a:rPr lang="ru-RU" sz="2400" dirty="0">
                <a:latin typeface="Verdana"/>
                <a:ea typeface="Verdana"/>
                <a:cs typeface="+mn-lt"/>
              </a:rPr>
              <a:t> </a:t>
            </a:r>
            <a:r>
              <a:rPr lang="ru-RU" sz="2400" dirty="0" err="1">
                <a:latin typeface="Verdana"/>
                <a:ea typeface="Verdana"/>
                <a:cs typeface="+mn-lt"/>
              </a:rPr>
              <a:t>avotu</a:t>
            </a:r>
            <a:r>
              <a:rPr lang="ru-RU" sz="2400" dirty="0">
                <a:latin typeface="Verdana"/>
                <a:ea typeface="Verdana"/>
                <a:cs typeface="+mn-lt"/>
              </a:rPr>
              <a:t> </a:t>
            </a:r>
            <a:r>
              <a:rPr lang="ru-RU" sz="2400" dirty="0" err="1">
                <a:latin typeface="Verdana"/>
                <a:ea typeface="Verdana"/>
                <a:cs typeface="+mn-lt"/>
              </a:rPr>
              <a:t>saraksts</a:t>
            </a:r>
            <a:r>
              <a:rPr lang="ru-RU" sz="2400" dirty="0">
                <a:latin typeface="Verdana"/>
                <a:ea typeface="Verdana"/>
                <a:cs typeface="+mn-lt"/>
              </a:rPr>
              <a:t> </a:t>
            </a:r>
            <a:endParaRPr lang="ru-RU" sz="2400" dirty="0">
              <a:latin typeface="Verdana"/>
              <a:ea typeface="Verdana"/>
            </a:endParaRPr>
          </a:p>
        </p:txBody>
      </p:sp>
      <p:pic>
        <p:nvPicPr>
          <p:cNvPr id="4" name="Рисунок 3" descr="Apzinātības kursa saturs – Apzinātības un miera prakse">
            <a:extLst>
              <a:ext uri="{FF2B5EF4-FFF2-40B4-BE49-F238E27FC236}">
                <a16:creationId xmlns:a16="http://schemas.microsoft.com/office/drawing/2014/main" id="{EE49F9DB-C2C5-9ED3-A8BB-19C1A2BEE6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096"/>
          <a:stretch/>
        </p:blipFill>
        <p:spPr>
          <a:xfrm>
            <a:off x="7918449" y="168275"/>
            <a:ext cx="3531759" cy="3531758"/>
          </a:xfrm>
          <a:custGeom>
            <a:avLst/>
            <a:gdLst/>
            <a:ahLst/>
            <a:cxnLst/>
            <a:rect l="l" t="t" r="r" b="b"/>
            <a:pathLst>
              <a:path w="3646992" h="3646991">
                <a:moveTo>
                  <a:pt x="0" y="0"/>
                </a:moveTo>
                <a:lnTo>
                  <a:pt x="1820818" y="0"/>
                </a:lnTo>
                <a:cubicBezTo>
                  <a:pt x="2829397" y="0"/>
                  <a:pt x="3646992" y="817595"/>
                  <a:pt x="3646992" y="1826174"/>
                </a:cubicBezTo>
                <a:lnTo>
                  <a:pt x="3646992" y="3646991"/>
                </a:lnTo>
                <a:lnTo>
                  <a:pt x="1826174" y="3646991"/>
                </a:lnTo>
                <a:cubicBezTo>
                  <a:pt x="817595" y="3646991"/>
                  <a:pt x="0" y="2829396"/>
                  <a:pt x="0" y="1820817"/>
                </a:cubicBezTo>
                <a:close/>
              </a:path>
            </a:pathLst>
          </a:cu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138D929-8384-B976-FFC3-97D7C76489BA}"/>
              </a:ext>
            </a:extLst>
          </p:cNvPr>
          <p:cNvSpPr txBox="1"/>
          <p:nvPr/>
        </p:nvSpPr>
        <p:spPr>
          <a:xfrm>
            <a:off x="10366513" y="3814916"/>
            <a:ext cx="1083152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1400" dirty="0">
                <a:latin typeface="Verdana" panose="020B0604030504040204" pitchFamily="34" charset="0"/>
                <a:ea typeface="Verdana" panose="020B0604030504040204" pitchFamily="34" charset="0"/>
              </a:rPr>
              <a:t>2. </a:t>
            </a:r>
            <a:r>
              <a:rPr lang="en-GB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attēls</a:t>
            </a:r>
            <a:endParaRPr lang="ru-RU" sz="1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FF35B83E-2A6C-4AFC-027F-CFA027BA20EC}"/>
              </a:ext>
            </a:extLst>
          </p:cNvPr>
          <p:cNvSpPr txBox="1">
            <a:spLocks/>
          </p:cNvSpPr>
          <p:nvPr/>
        </p:nvSpPr>
        <p:spPr>
          <a:xfrm>
            <a:off x="467950" y="-114535"/>
            <a:ext cx="5895581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>
                <a:latin typeface="Verdana"/>
                <a:ea typeface="Verdana"/>
              </a:rPr>
              <a:t>Saturs</a:t>
            </a:r>
            <a:endParaRPr lang="ru-RU" dirty="0">
              <a:latin typeface="Verdana"/>
              <a:ea typeface="Verdana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8620622" y="6122695"/>
            <a:ext cx="3562370" cy="707886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r"/>
            <a:r>
              <a:rPr lang="ru-RU" sz="1000" dirty="0">
                <a:latin typeface="Verdana"/>
                <a:ea typeface="+mn-lt"/>
                <a:cs typeface="+mn-lt"/>
              </a:rPr>
              <a:t>Wp</a:t>
            </a:r>
            <a:r>
              <a:rPr lang="lv-LV" sz="1000" dirty="0">
                <a:latin typeface="Verdana"/>
                <a:ea typeface="+mn-lt"/>
                <a:cs typeface="+mn-lt"/>
              </a:rPr>
              <a:t> </a:t>
            </a:r>
            <a:r>
              <a:rPr lang="ru-RU" sz="1000">
                <a:latin typeface="Gill Sans Nova"/>
                <a:ea typeface="+mn-lt"/>
                <a:cs typeface="+mn-lt"/>
              </a:rPr>
              <a:t>[Skatīts 01.02.2026] </a:t>
            </a:r>
            <a:r>
              <a:rPr lang="ru-RU" sz="1000" dirty="0">
                <a:latin typeface="Verdana"/>
                <a:ea typeface="+mn-lt"/>
                <a:cs typeface="+mn-lt"/>
              </a:rPr>
              <a:t>https://i0.wp.com/aumprakse.lv/wordpress/wp-content/uploads/2015/02/apzinatiba_checklist.jpg?fit=400%2C300&amp;ssl=1 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6638312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Background Fill">
            <a:extLst>
              <a:ext uri="{FF2B5EF4-FFF2-40B4-BE49-F238E27FC236}">
                <a16:creationId xmlns:a16="http://schemas.microsoft.com/office/drawing/2014/main" id="{FAFB3478-4AEC-431E-93B2-1593839C16D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8" name="Color Fill">
            <a:extLst>
              <a:ext uri="{FF2B5EF4-FFF2-40B4-BE49-F238E27FC236}">
                <a16:creationId xmlns:a16="http://schemas.microsoft.com/office/drawing/2014/main" id="{BA44E6CA-03F3-47EA-A9F3-5C0674E28D6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29" name="Group 12">
            <a:extLst>
              <a:ext uri="{FF2B5EF4-FFF2-40B4-BE49-F238E27FC236}">
                <a16:creationId xmlns:a16="http://schemas.microsoft.com/office/drawing/2014/main" id="{7EE36A67-006F-476F-9635-DC6B386EEAB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744625" y="685620"/>
            <a:ext cx="5444327" cy="6049020"/>
            <a:chOff x="6744625" y="685620"/>
            <a:chExt cx="5444327" cy="6049020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D09EE09B-0433-4F4A-B864-D895D8BAEBB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37132" y="6155147"/>
              <a:ext cx="227139" cy="227139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Graphic 9">
              <a:extLst>
                <a:ext uri="{FF2B5EF4-FFF2-40B4-BE49-F238E27FC236}">
                  <a16:creationId xmlns:a16="http://schemas.microsoft.com/office/drawing/2014/main" id="{50531F8D-2903-44C8-A854-DDCFFC34F1A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744625" y="967196"/>
              <a:ext cx="2116766" cy="2116765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" name="Graphic 18">
              <a:extLst>
                <a:ext uri="{FF2B5EF4-FFF2-40B4-BE49-F238E27FC236}">
                  <a16:creationId xmlns:a16="http://schemas.microsoft.com/office/drawing/2014/main" id="{95661429-E56F-4057-B25B-914DB7F87EC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00000">
              <a:off x="9618226" y="3599573"/>
              <a:ext cx="2057060" cy="3135067"/>
            </a:xfrm>
            <a:custGeom>
              <a:avLst/>
              <a:gdLst>
                <a:gd name="connsiteX0" fmla="*/ 3413379 w 3413378"/>
                <a:gd name="connsiteY0" fmla="*/ 3266028 h 6532054"/>
                <a:gd name="connsiteX1" fmla="*/ 1706689 w 3413378"/>
                <a:gd name="connsiteY1" fmla="*/ 6532055 h 6532054"/>
                <a:gd name="connsiteX2" fmla="*/ 0 w 3413378"/>
                <a:gd name="connsiteY2" fmla="*/ 3266028 h 6532054"/>
                <a:gd name="connsiteX3" fmla="*/ 1706689 w 3413378"/>
                <a:gd name="connsiteY3" fmla="*/ 0 h 6532054"/>
                <a:gd name="connsiteX4" fmla="*/ 3413379 w 3413378"/>
                <a:gd name="connsiteY4" fmla="*/ 3266028 h 6532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3378" h="6532054">
                  <a:moveTo>
                    <a:pt x="3413379" y="3266028"/>
                  </a:moveTo>
                  <a:cubicBezTo>
                    <a:pt x="3413379" y="5069777"/>
                    <a:pt x="1706689" y="6532055"/>
                    <a:pt x="1706689" y="6532055"/>
                  </a:cubicBezTo>
                  <a:cubicBezTo>
                    <a:pt x="1706689" y="6532055"/>
                    <a:pt x="0" y="5069777"/>
                    <a:pt x="0" y="3266028"/>
                  </a:cubicBezTo>
                  <a:cubicBezTo>
                    <a:pt x="0" y="1462278"/>
                    <a:pt x="1706689" y="0"/>
                    <a:pt x="1706689" y="0"/>
                  </a:cubicBezTo>
                  <a:cubicBezTo>
                    <a:pt x="1706689" y="0"/>
                    <a:pt x="3413379" y="1462278"/>
                    <a:pt x="3413379" y="3266028"/>
                  </a:cubicBezTo>
                  <a:close/>
                </a:path>
              </a:pathLst>
            </a:custGeom>
            <a:solidFill>
              <a:schemeClr val="accent1">
                <a:lumMod val="75000"/>
                <a:alpha val="65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07D6490B-F4AE-4A13-BB54-35274AB326D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36262" y="685620"/>
              <a:ext cx="265579" cy="265579"/>
            </a:xfrm>
            <a:prstGeom prst="ellipse">
              <a:avLst/>
            </a:prstGeom>
            <a:pattFill prst="pct5">
              <a:fgClr>
                <a:schemeClr val="accent4">
                  <a:lumMod val="20000"/>
                  <a:lumOff val="80000"/>
                </a:schemeClr>
              </a:fgClr>
              <a:bgClr>
                <a:schemeClr val="accent4">
                  <a:lumMod val="60000"/>
                  <a:lumOff val="40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0FA281D-945D-4639-8F12-BC2D20C49E7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60221" y="1219177"/>
              <a:ext cx="528731" cy="1057462"/>
            </a:xfrm>
            <a:custGeom>
              <a:avLst/>
              <a:gdLst>
                <a:gd name="connsiteX0" fmla="*/ 528731 w 528731"/>
                <a:gd name="connsiteY0" fmla="*/ 0 h 1057462"/>
                <a:gd name="connsiteX1" fmla="*/ 528731 w 528731"/>
                <a:gd name="connsiteY1" fmla="*/ 1057462 h 1057462"/>
                <a:gd name="connsiteX2" fmla="*/ 0 w 528731"/>
                <a:gd name="connsiteY2" fmla="*/ 528731 h 1057462"/>
                <a:gd name="connsiteX3" fmla="*/ 528731 w 528731"/>
                <a:gd name="connsiteY3" fmla="*/ 0 h 1057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8731" h="1057462">
                  <a:moveTo>
                    <a:pt x="528731" y="0"/>
                  </a:moveTo>
                  <a:lnTo>
                    <a:pt x="528731" y="1057462"/>
                  </a:lnTo>
                  <a:cubicBezTo>
                    <a:pt x="236721" y="1057462"/>
                    <a:pt x="0" y="820741"/>
                    <a:pt x="0" y="528731"/>
                  </a:cubicBezTo>
                  <a:cubicBezTo>
                    <a:pt x="0" y="236721"/>
                    <a:pt x="236721" y="0"/>
                    <a:pt x="528731" y="0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0" name="Texture">
            <a:extLst>
              <a:ext uri="{FF2B5EF4-FFF2-40B4-BE49-F238E27FC236}">
                <a16:creationId xmlns:a16="http://schemas.microsoft.com/office/drawing/2014/main" id="{2E922E9E-A29B-4164-A634-B718A43369C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57C1FE-834D-E929-EA72-F7E2C8A6E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67" y="26099"/>
            <a:ext cx="6844958" cy="1313072"/>
          </a:xfrm>
        </p:spPr>
        <p:txBody>
          <a:bodyPr>
            <a:normAutofit/>
          </a:bodyPr>
          <a:lstStyle/>
          <a:p>
            <a:r>
              <a:rPr lang="lv-LV" b="1">
                <a:latin typeface="Verdana"/>
                <a:ea typeface="Verdana"/>
              </a:rPr>
              <a:t>Uzdevuma nostādne</a:t>
            </a:r>
            <a:endParaRPr lang="ru-RU" b="1" dirty="0">
              <a:latin typeface="Verdana"/>
              <a:ea typeface="Verdana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C49F4B2-6118-6582-E7AD-197D1767D7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894" y="1604829"/>
            <a:ext cx="6506321" cy="5000005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lv-LV" sz="2400" dirty="0">
                <a:latin typeface="Verdana" panose="020B0604030504040204" pitchFamily="34" charset="0"/>
                <a:ea typeface="Verdana" panose="020B0604030504040204" pitchFamily="34" charset="0"/>
              </a:rPr>
              <a:t>Izstrādāt modernu e-komercijas platformu </a:t>
            </a:r>
            <a:endParaRPr lang="en-US" dirty="0"/>
          </a:p>
          <a:p>
            <a:pPr>
              <a:spcAft>
                <a:spcPts val="400"/>
              </a:spcAft>
            </a:pPr>
            <a:r>
              <a:rPr lang="lv-LV" sz="2400" dirty="0">
                <a:latin typeface="Verdana"/>
                <a:ea typeface="Verdana"/>
              </a:rPr>
              <a:t>Paredzēta datoru un </a:t>
            </a:r>
            <a:r>
              <a:rPr lang="lv-LV" sz="2400" dirty="0" smtClean="0">
                <a:latin typeface="Verdana"/>
                <a:ea typeface="Verdana"/>
              </a:rPr>
              <a:t>to </a:t>
            </a:r>
            <a:r>
              <a:rPr lang="lv-LV" sz="2400" dirty="0">
                <a:latin typeface="Verdana"/>
                <a:ea typeface="Verdana"/>
              </a:rPr>
              <a:t>komponentu tirdzniecībai </a:t>
            </a:r>
          </a:p>
          <a:p>
            <a:pPr>
              <a:spcAft>
                <a:spcPts val="400"/>
              </a:spcAft>
            </a:pPr>
            <a:r>
              <a:rPr lang="lv-LV" sz="2400" dirty="0">
                <a:latin typeface="Verdana" panose="020B0604030504040204" pitchFamily="34" charset="0"/>
                <a:ea typeface="Verdana" panose="020B0604030504040204" pitchFamily="34" charset="0"/>
              </a:rPr>
              <a:t>Nodrošina: </a:t>
            </a:r>
          </a:p>
          <a:p>
            <a:pPr lvl="1">
              <a:spcAft>
                <a:spcPts val="400"/>
              </a:spcAft>
            </a:pPr>
            <a:r>
              <a:rPr lang="lv-LV" sz="2400" dirty="0">
                <a:latin typeface="Verdana" panose="020B0604030504040204" pitchFamily="34" charset="0"/>
                <a:ea typeface="Verdana" panose="020B0604030504040204" pitchFamily="34" charset="0"/>
              </a:rPr>
              <a:t>preču iegādi </a:t>
            </a:r>
          </a:p>
          <a:p>
            <a:pPr lvl="1">
              <a:spcAft>
                <a:spcPts val="400"/>
              </a:spcAft>
            </a:pPr>
            <a:r>
              <a:rPr lang="lv-LV" sz="2400" dirty="0">
                <a:latin typeface="Verdana" panose="020B0604030504040204" pitchFamily="34" charset="0"/>
                <a:ea typeface="Verdana" panose="020B0604030504040204" pitchFamily="34" charset="0"/>
              </a:rPr>
              <a:t>izsoļu sistēmu </a:t>
            </a:r>
          </a:p>
          <a:p>
            <a:pPr lvl="1">
              <a:spcAft>
                <a:spcPts val="400"/>
              </a:spcAft>
            </a:pPr>
            <a:r>
              <a:rPr lang="lv-LV" sz="2400" dirty="0">
                <a:latin typeface="Verdana" panose="020B0604030504040204" pitchFamily="34" charset="0"/>
                <a:ea typeface="Verdana" panose="020B0604030504040204" pitchFamily="34" charset="0"/>
              </a:rPr>
              <a:t>bloga sadaļu </a:t>
            </a:r>
          </a:p>
          <a:p>
            <a:pPr lvl="1">
              <a:spcAft>
                <a:spcPts val="400"/>
              </a:spcAft>
            </a:pPr>
            <a:r>
              <a:rPr lang="lv-LV" sz="2400" dirty="0">
                <a:latin typeface="Verdana" panose="020B0604030504040204" pitchFamily="34" charset="0"/>
                <a:ea typeface="Verdana" panose="020B0604030504040204" pitchFamily="34" charset="0"/>
              </a:rPr>
              <a:t>mākslīgā intelekta asistentu </a:t>
            </a:r>
          </a:p>
          <a:p>
            <a:pPr>
              <a:spcAft>
                <a:spcPts val="400"/>
              </a:spcAft>
            </a:pPr>
            <a:r>
              <a:rPr lang="lv-LV" sz="2400" dirty="0">
                <a:latin typeface="Verdana" panose="020B0604030504040204" pitchFamily="34" charset="0"/>
                <a:ea typeface="Verdana" panose="020B0604030504040204" pitchFamily="34" charset="0"/>
              </a:rPr>
              <a:t>Papildus: ģimenes kontu funkcionalitāte </a:t>
            </a:r>
          </a:p>
        </p:txBody>
      </p:sp>
      <p:pic>
        <p:nvPicPr>
          <p:cNvPr id="4" name="Рисунок 3" descr="Free Blackboard Chalk vector and picture">
            <a:extLst>
              <a:ext uri="{FF2B5EF4-FFF2-40B4-BE49-F238E27FC236}">
                <a16:creationId xmlns:a16="http://schemas.microsoft.com/office/drawing/2014/main" id="{B95546F4-A7E1-1972-6258-55F99C9B91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438" r="18812" b="-1"/>
          <a:stretch/>
        </p:blipFill>
        <p:spPr>
          <a:xfrm>
            <a:off x="6922924" y="1058008"/>
            <a:ext cx="4748792" cy="4748792"/>
          </a:xfrm>
          <a:custGeom>
            <a:avLst/>
            <a:gdLst/>
            <a:ahLst/>
            <a:cxnLst/>
            <a:rect l="l" t="t" r="r" b="b"/>
            <a:pathLst>
              <a:path w="3129592" h="3129592">
                <a:moveTo>
                  <a:pt x="1564796" y="0"/>
                </a:moveTo>
                <a:cubicBezTo>
                  <a:pt x="2429009" y="0"/>
                  <a:pt x="3129592" y="700583"/>
                  <a:pt x="3129592" y="1564796"/>
                </a:cubicBezTo>
                <a:cubicBezTo>
                  <a:pt x="3129592" y="2429009"/>
                  <a:pt x="2429009" y="3129592"/>
                  <a:pt x="1564796" y="3129592"/>
                </a:cubicBezTo>
                <a:cubicBezTo>
                  <a:pt x="700583" y="3129592"/>
                  <a:pt x="0" y="2429009"/>
                  <a:pt x="0" y="1564796"/>
                </a:cubicBezTo>
                <a:cubicBezTo>
                  <a:pt x="0" y="700583"/>
                  <a:pt x="700583" y="0"/>
                  <a:pt x="1564796" y="0"/>
                </a:cubicBezTo>
                <a:close/>
              </a:path>
            </a:pathLst>
          </a:cu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709EC3B-FBAF-C6B3-18EC-27F3FDC6C1EC}"/>
              </a:ext>
            </a:extLst>
          </p:cNvPr>
          <p:cNvSpPr txBox="1"/>
          <p:nvPr/>
        </p:nvSpPr>
        <p:spPr>
          <a:xfrm>
            <a:off x="8915400" y="5941142"/>
            <a:ext cx="1182757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1400" dirty="0">
                <a:latin typeface="Verdana" panose="020B0604030504040204" pitchFamily="34" charset="0"/>
                <a:ea typeface="Verdana" panose="020B0604030504040204" pitchFamily="34" charset="0"/>
              </a:rPr>
              <a:t>3. </a:t>
            </a:r>
            <a:r>
              <a:rPr lang="en-GB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attēls</a:t>
            </a:r>
            <a:endParaRPr lang="ru-RU" sz="1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6920522" y="6333777"/>
            <a:ext cx="5268430" cy="553998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r"/>
            <a:r>
              <a:rPr lang="ru-RU" sz="1000" dirty="0">
                <a:latin typeface="Verdana"/>
                <a:ea typeface="+mn-lt"/>
                <a:cs typeface="+mn-lt"/>
              </a:rPr>
              <a:t>Encrypted </a:t>
            </a:r>
            <a:r>
              <a:rPr lang="ru-RU" sz="1000">
                <a:latin typeface="Gill Sans Nova"/>
                <a:ea typeface="+mn-lt"/>
                <a:cs typeface="+mn-lt"/>
              </a:rPr>
              <a:t>[Skatīts 01.05.2026] </a:t>
            </a:r>
            <a:r>
              <a:rPr lang="ru-RU" sz="1000" dirty="0">
                <a:latin typeface="Verdana"/>
                <a:ea typeface="+mn-lt"/>
                <a:cs typeface="+mn-lt"/>
              </a:rPr>
              <a:t>https://encrypted-tbn1.gstatic.com/images?q=tbn:ANd9GcRLMqGq_DBqXhGYH86qK_mDntenorDr9rsNGEGrQX09_ReN30kz 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5348215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Background Fill">
            <a:extLst>
              <a:ext uri="{FF2B5EF4-FFF2-40B4-BE49-F238E27FC236}">
                <a16:creationId xmlns:a16="http://schemas.microsoft.com/office/drawing/2014/main" id="{FAFB3478-4AEC-431E-93B2-1593839C16D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Color Fill">
            <a:extLst>
              <a:ext uri="{FF2B5EF4-FFF2-40B4-BE49-F238E27FC236}">
                <a16:creationId xmlns:a16="http://schemas.microsoft.com/office/drawing/2014/main" id="{A8A68745-355E-4D81-AA5F-942C71082A1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2494F00-2311-4F3B-9C5C-D0DC51F84F9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028124" y="-1190"/>
            <a:ext cx="5163876" cy="5940292"/>
            <a:chOff x="7028124" y="-1190"/>
            <a:chExt cx="5163876" cy="5940292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63D9D3BB-BBD1-437C-B3A6-BE1AE51FD0E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202463" y="453951"/>
              <a:ext cx="608046" cy="608046"/>
            </a:xfrm>
            <a:prstGeom prst="ellipse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5" name="Graphic 18">
              <a:extLst>
                <a:ext uri="{FF2B5EF4-FFF2-40B4-BE49-F238E27FC236}">
                  <a16:creationId xmlns:a16="http://schemas.microsoft.com/office/drawing/2014/main" id="{9D9C1E0A-95BE-40A6-8056-0ADC76069CE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3600000">
              <a:off x="7312815" y="4858033"/>
              <a:ext cx="856614" cy="1305524"/>
            </a:xfrm>
            <a:custGeom>
              <a:avLst/>
              <a:gdLst>
                <a:gd name="connsiteX0" fmla="*/ 3413379 w 3413378"/>
                <a:gd name="connsiteY0" fmla="*/ 3266028 h 6532054"/>
                <a:gd name="connsiteX1" fmla="*/ 1706689 w 3413378"/>
                <a:gd name="connsiteY1" fmla="*/ 6532055 h 6532054"/>
                <a:gd name="connsiteX2" fmla="*/ 0 w 3413378"/>
                <a:gd name="connsiteY2" fmla="*/ 3266028 h 6532054"/>
                <a:gd name="connsiteX3" fmla="*/ 1706689 w 3413378"/>
                <a:gd name="connsiteY3" fmla="*/ 0 h 6532054"/>
                <a:gd name="connsiteX4" fmla="*/ 3413379 w 3413378"/>
                <a:gd name="connsiteY4" fmla="*/ 3266028 h 6532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3378" h="6532054">
                  <a:moveTo>
                    <a:pt x="3413379" y="3266028"/>
                  </a:moveTo>
                  <a:cubicBezTo>
                    <a:pt x="3413379" y="5069777"/>
                    <a:pt x="1706689" y="6532055"/>
                    <a:pt x="1706689" y="6532055"/>
                  </a:cubicBezTo>
                  <a:cubicBezTo>
                    <a:pt x="1706689" y="6532055"/>
                    <a:pt x="0" y="5069777"/>
                    <a:pt x="0" y="3266028"/>
                  </a:cubicBezTo>
                  <a:cubicBezTo>
                    <a:pt x="0" y="1462278"/>
                    <a:pt x="1706689" y="0"/>
                    <a:pt x="1706689" y="0"/>
                  </a:cubicBezTo>
                  <a:cubicBezTo>
                    <a:pt x="1706689" y="0"/>
                    <a:pt x="3413379" y="1462278"/>
                    <a:pt x="3413379" y="326602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98D99D5D-6418-437D-B40C-89DF2A95FD7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028124" y="4672162"/>
              <a:ext cx="256132" cy="256132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3451BA2-4B19-4827-BD5A-5306C1AF1BB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336856" y="-1190"/>
              <a:ext cx="3597981" cy="1501977"/>
            </a:xfrm>
            <a:custGeom>
              <a:avLst/>
              <a:gdLst>
                <a:gd name="connsiteX0" fmla="*/ 0 w 3597981"/>
                <a:gd name="connsiteY0" fmla="*/ 0 h 1501977"/>
                <a:gd name="connsiteX1" fmla="*/ 3597981 w 3597981"/>
                <a:gd name="connsiteY1" fmla="*/ 0 h 1501977"/>
                <a:gd name="connsiteX2" fmla="*/ 3590068 w 3597981"/>
                <a:gd name="connsiteY2" fmla="*/ 51850 h 1501977"/>
                <a:gd name="connsiteX3" fmla="*/ 1810819 w 3597981"/>
                <a:gd name="connsiteY3" fmla="*/ 1501977 h 1501977"/>
                <a:gd name="connsiteX4" fmla="*/ 0 w 3597981"/>
                <a:gd name="connsiteY4" fmla="*/ 1501977 h 1501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97981" h="1501977">
                  <a:moveTo>
                    <a:pt x="0" y="0"/>
                  </a:moveTo>
                  <a:lnTo>
                    <a:pt x="3597981" y="0"/>
                  </a:lnTo>
                  <a:lnTo>
                    <a:pt x="3590068" y="51850"/>
                  </a:lnTo>
                  <a:cubicBezTo>
                    <a:pt x="3420721" y="879443"/>
                    <a:pt x="2688479" y="1501977"/>
                    <a:pt x="1810819" y="1501977"/>
                  </a:cubicBezTo>
                  <a:lnTo>
                    <a:pt x="0" y="1501977"/>
                  </a:lnTo>
                  <a:close/>
                </a:path>
              </a:pathLst>
            </a:custGeom>
            <a:solidFill>
              <a:schemeClr val="accent1">
                <a:lumMod val="75000"/>
                <a:alpha val="65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EE6C41F-771F-428C-A9A7-CD50C1AE087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731593" y="1183332"/>
              <a:ext cx="460407" cy="1419452"/>
            </a:xfrm>
            <a:custGeom>
              <a:avLst/>
              <a:gdLst>
                <a:gd name="connsiteX0" fmla="*/ 460407 w 460407"/>
                <a:gd name="connsiteY0" fmla="*/ 0 h 1419452"/>
                <a:gd name="connsiteX1" fmla="*/ 460407 w 460407"/>
                <a:gd name="connsiteY1" fmla="*/ 1419452 h 1419452"/>
                <a:gd name="connsiteX2" fmla="*/ 450116 w 460407"/>
                <a:gd name="connsiteY2" fmla="*/ 1411963 h 1419452"/>
                <a:gd name="connsiteX3" fmla="*/ 0 w 460407"/>
                <a:gd name="connsiteY3" fmla="*/ 709726 h 1419452"/>
                <a:gd name="connsiteX4" fmla="*/ 450116 w 460407"/>
                <a:gd name="connsiteY4" fmla="*/ 7489 h 1419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0407" h="1419452">
                  <a:moveTo>
                    <a:pt x="460407" y="0"/>
                  </a:moveTo>
                  <a:lnTo>
                    <a:pt x="460407" y="1419452"/>
                  </a:lnTo>
                  <a:lnTo>
                    <a:pt x="450116" y="1411963"/>
                  </a:lnTo>
                  <a:cubicBezTo>
                    <a:pt x="360093" y="1345123"/>
                    <a:pt x="0" y="1056114"/>
                    <a:pt x="0" y="709726"/>
                  </a:cubicBezTo>
                  <a:cubicBezTo>
                    <a:pt x="0" y="363339"/>
                    <a:pt x="360093" y="74329"/>
                    <a:pt x="450116" y="7489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0" name="Texture">
            <a:extLst>
              <a:ext uri="{FF2B5EF4-FFF2-40B4-BE49-F238E27FC236}">
                <a16:creationId xmlns:a16="http://schemas.microsoft.com/office/drawing/2014/main" id="{2E922E9E-A29B-4164-A634-B718A43369C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955919-7E61-BFB0-9460-61BCC4EA9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9588"/>
            <a:ext cx="8686800" cy="1325563"/>
          </a:xfrm>
        </p:spPr>
        <p:txBody>
          <a:bodyPr>
            <a:normAutofit/>
          </a:bodyPr>
          <a:lstStyle/>
          <a:p>
            <a:r>
              <a:rPr lang="lv-LV" b="1" dirty="0">
                <a:latin typeface="Verdana" panose="020B0604030504040204" pitchFamily="34" charset="0"/>
                <a:ea typeface="Verdana" panose="020B0604030504040204" pitchFamily="34" charset="0"/>
              </a:rPr>
              <a:t>Izmantotās tehnoloģijas</a:t>
            </a:r>
            <a:endParaRPr lang="ru-RU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5BE20D-23A6-09EB-E9DC-8A03EC0D276C}"/>
              </a:ext>
            </a:extLst>
          </p:cNvPr>
          <p:cNvSpPr txBox="1"/>
          <p:nvPr/>
        </p:nvSpPr>
        <p:spPr>
          <a:xfrm>
            <a:off x="9603657" y="5331138"/>
            <a:ext cx="133117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1400" dirty="0">
                <a:latin typeface="Verdana" panose="020B0604030504040204" pitchFamily="34" charset="0"/>
                <a:ea typeface="Verdana" panose="020B0604030504040204" pitchFamily="34" charset="0"/>
              </a:rPr>
              <a:t>4. </a:t>
            </a:r>
            <a:r>
              <a:rPr lang="en-GB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attēls</a:t>
            </a:r>
            <a:endParaRPr lang="ru-RU" sz="1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Rectangle 4"/>
          <p:cNvSpPr>
            <a:spLocks noGrp="1" noChangeArrowheads="1"/>
          </p:cNvSpPr>
          <p:nvPr>
            <p:ph idx="1"/>
          </p:nvPr>
        </p:nvSpPr>
        <p:spPr bwMode="auto">
          <a:xfrm>
            <a:off x="781164" y="1030863"/>
            <a:ext cx="6382403" cy="44496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HTML5, CSS (Bootstrap)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JavaScript, Vue.js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Verdana"/>
                <a:ea typeface="Verdana"/>
                <a:cs typeface="Times New Roman"/>
              </a:rPr>
              <a:t>PHP 8.1,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Verdana"/>
                <a:ea typeface="Verdana"/>
                <a:cs typeface="Times New Roman"/>
              </a:rPr>
              <a:t>Laravel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Verdana"/>
                <a:ea typeface="Verdana"/>
                <a:cs typeface="Times New Roman"/>
              </a:rPr>
              <a:t> 10 </a:t>
            </a:r>
            <a:endParaRPr lang="en-US" altLang="en-US" sz="2400" b="0" i="0" u="none" strike="noStrike" cap="none" normalizeH="0" baseline="0" dirty="0">
              <a:ln>
                <a:noFill/>
              </a:ln>
              <a:effectLst/>
              <a:latin typeface="Verdana"/>
              <a:ea typeface="Verdana"/>
              <a:cs typeface="Times New Roman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MySQL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datubāze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Stripe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maksājumu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sistēma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</a:p>
          <a:p>
            <a:pPr marL="34290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Verdana"/>
                <a:ea typeface="Verdana"/>
                <a:cs typeface="Times New Roman"/>
              </a:rPr>
              <a:t>Mākslīgais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Verdana"/>
                <a:ea typeface="Verdana"/>
                <a:cs typeface="Times New Roman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Verdana"/>
                <a:ea typeface="Verdana"/>
                <a:cs typeface="Times New Roman"/>
              </a:rPr>
              <a:t>intelekts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Verdana"/>
                <a:ea typeface="Verdana"/>
                <a:cs typeface="Times New Roman"/>
              </a:rPr>
              <a:t> (</a:t>
            </a:r>
            <a:r>
              <a:rPr lang="en-US" altLang="en-US" sz="2400" dirty="0">
                <a:latin typeface="Verdana"/>
                <a:ea typeface="Verdana"/>
                <a:cs typeface="Times New Roman"/>
              </a:rPr>
              <a:t>MI 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Verdana"/>
                <a:ea typeface="Verdana"/>
                <a:cs typeface="Times New Roman"/>
              </a:rPr>
              <a:t>asistents</a:t>
            </a:r>
            <a:r>
              <a:rPr lang="en-US" altLang="en-US" sz="2400" dirty="0">
                <a:latin typeface="Verdana"/>
                <a:ea typeface="Verdana"/>
                <a:cs typeface="Times New Roman"/>
              </a:rPr>
              <a:t> DeepSeek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Verdana"/>
                <a:ea typeface="Verdana"/>
                <a:cs typeface="Times New Roman"/>
              </a:rPr>
              <a:t>) </a:t>
            </a:r>
            <a:endParaRPr lang="en-US" altLang="en-US" sz="2400" b="0" i="0" u="none" strike="noStrike" cap="none" normalizeH="0" baseline="0" dirty="0">
              <a:ln>
                <a:noFill/>
              </a:ln>
              <a:effectLst/>
              <a:latin typeface="Verdana"/>
              <a:ea typeface="Verdana"/>
              <a:cs typeface="Times New Roman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9144000" y="6304002"/>
            <a:ext cx="3048000" cy="553998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r"/>
            <a:r>
              <a:rPr lang="ru-RU" sz="1000" dirty="0">
                <a:latin typeface="Verdana"/>
                <a:ea typeface="Verdana"/>
                <a:cs typeface="+mn-lt"/>
              </a:rPr>
              <a:t>Dmlab </a:t>
            </a:r>
            <a:r>
              <a:rPr lang="ru-RU" sz="1000">
                <a:latin typeface="Gill Sans Nova"/>
                <a:ea typeface="Verdana"/>
                <a:cs typeface="+mn-lt"/>
              </a:rPr>
              <a:t>[Skatīts 26.04.2026] </a:t>
            </a:r>
            <a:r>
              <a:rPr lang="ru-RU" sz="1000" dirty="0">
                <a:latin typeface="Verdana"/>
                <a:ea typeface="Verdana"/>
                <a:cs typeface="+mn-lt"/>
              </a:rPr>
              <a:t>https://dmlab.edu.gr/portfolio/web-technologies-applications/</a:t>
            </a:r>
            <a:endParaRPr lang="en-US" sz="1000" dirty="0">
              <a:latin typeface="Verdana"/>
              <a:ea typeface="Verdana"/>
              <a:cs typeface="+mn-lt"/>
            </a:endParaRPr>
          </a:p>
        </p:txBody>
      </p:sp>
      <p:pic>
        <p:nvPicPr>
          <p:cNvPr id="6" name="Picture 5" descr="Web Technologies &amp; Applications – Data &amp; Media Lab">
            <a:extLst>
              <a:ext uri="{FF2B5EF4-FFF2-40B4-BE49-F238E27FC236}">
                <a16:creationId xmlns:a16="http://schemas.microsoft.com/office/drawing/2014/main" id="{177D8689-2B4D-1209-CC65-536E8B7AF4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5478" y="1719021"/>
            <a:ext cx="4454082" cy="3429602"/>
          </a:xfrm>
          <a:custGeom>
            <a:avLst/>
            <a:gdLst/>
            <a:ahLst/>
            <a:cxnLst/>
            <a:rect l="l" t="t" r="r" b="b"/>
            <a:pathLst>
              <a:path w="3646992" h="3646991">
                <a:moveTo>
                  <a:pt x="0" y="0"/>
                </a:moveTo>
                <a:lnTo>
                  <a:pt x="1820818" y="0"/>
                </a:lnTo>
                <a:cubicBezTo>
                  <a:pt x="2829397" y="0"/>
                  <a:pt x="3646992" y="817595"/>
                  <a:pt x="3646992" y="1826174"/>
                </a:cubicBezTo>
                <a:lnTo>
                  <a:pt x="3646992" y="3646991"/>
                </a:lnTo>
                <a:lnTo>
                  <a:pt x="1826174" y="3646991"/>
                </a:lnTo>
                <a:cubicBezTo>
                  <a:pt x="817595" y="3646991"/>
                  <a:pt x="0" y="2829396"/>
                  <a:pt x="0" y="1820817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946655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540CFA-4AFA-70FC-4E03-88EF4CFF1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688" y="2847180"/>
            <a:ext cx="7685037" cy="1325563"/>
          </a:xfrm>
        </p:spPr>
        <p:txBody>
          <a:bodyPr>
            <a:normAutofit fontScale="90000"/>
          </a:bodyPr>
          <a:lstStyle/>
          <a:p>
            <a:r>
              <a:rPr lang="en-US" b="1" dirty="0" err="1">
                <a:latin typeface="Verdana"/>
                <a:ea typeface="Verdana"/>
              </a:rPr>
              <a:t>Funkcionālās</a:t>
            </a:r>
            <a:r>
              <a:rPr lang="lv-LV" b="1" dirty="0">
                <a:latin typeface="Verdana" panose="020B0604030504040204" pitchFamily="34" charset="0"/>
                <a:ea typeface="Verdana" panose="020B0604030504040204" pitchFamily="34" charset="0"/>
              </a:rPr>
              <a:t/>
            </a:r>
            <a:br>
              <a:rPr lang="lv-LV" b="1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b="1" dirty="0" err="1">
                <a:latin typeface="Verdana"/>
                <a:ea typeface="Verdana"/>
              </a:rPr>
              <a:t>dekompozīcijas</a:t>
            </a:r>
            <a:r>
              <a:rPr lang="en-US" b="1" dirty="0">
                <a:latin typeface="Verdana"/>
                <a:ea typeface="Verdana"/>
              </a:rPr>
              <a:t/>
            </a:r>
            <a:br>
              <a:rPr lang="en-US" b="1" dirty="0">
                <a:latin typeface="Verdana"/>
                <a:ea typeface="Verdana"/>
              </a:rPr>
            </a:br>
            <a:r>
              <a:rPr lang="en-US" b="1" dirty="0" err="1">
                <a:latin typeface="Verdana"/>
                <a:ea typeface="Verdana"/>
              </a:rPr>
              <a:t>diagramma</a:t>
            </a:r>
            <a:endParaRPr lang="ru-RU" b="1" dirty="0" err="1">
              <a:latin typeface="Verdana"/>
              <a:ea typeface="Verdana"/>
            </a:endParaRPr>
          </a:p>
        </p:txBody>
      </p:sp>
      <p:pic>
        <p:nvPicPr>
          <p:cNvPr id="4" name="Рисунок 3" descr="E:\drawio\sis.pn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3725" y="223282"/>
            <a:ext cx="4788684" cy="6283843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B5BE20D-23A6-09EB-E9DC-8A03EC0D276C}"/>
              </a:ext>
            </a:extLst>
          </p:cNvPr>
          <p:cNvSpPr txBox="1"/>
          <p:nvPr/>
        </p:nvSpPr>
        <p:spPr>
          <a:xfrm>
            <a:off x="8301725" y="6515232"/>
            <a:ext cx="133117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lv-LV" sz="1400" dirty="0">
                <a:latin typeface="Verdana" panose="020B0604030504040204" pitchFamily="34" charset="0"/>
                <a:ea typeface="Verdana" panose="020B0604030504040204" pitchFamily="34" charset="0"/>
              </a:rPr>
              <a:t>5</a:t>
            </a:r>
            <a:r>
              <a:rPr lang="en-GB" sz="1400" dirty="0">
                <a:latin typeface="Verdana" panose="020B0604030504040204" pitchFamily="34" charset="0"/>
                <a:ea typeface="Verdana" panose="020B0604030504040204" pitchFamily="34" charset="0"/>
              </a:rPr>
              <a:t>. </a:t>
            </a:r>
            <a:r>
              <a:rPr lang="en-GB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attēls</a:t>
            </a:r>
            <a:endParaRPr lang="ru-RU" sz="1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58477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26989" y="2753484"/>
            <a:ext cx="5074067" cy="1363816"/>
          </a:xfrm>
        </p:spPr>
        <p:txBody>
          <a:bodyPr anchor="ctr"/>
          <a:lstStyle/>
          <a:p>
            <a:pPr algn="ctr"/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ER </a:t>
            </a:r>
            <a:r>
              <a:rPr lang="en-US" b="1" dirty="0" err="1">
                <a:latin typeface="Verdana" panose="020B0604030504040204" pitchFamily="34" charset="0"/>
                <a:ea typeface="Verdana" panose="020B0604030504040204" pitchFamily="34" charset="0"/>
              </a:rPr>
              <a:t>diagramma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2768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B5BE20D-23A6-09EB-E9DC-8A03EC0D276C}"/>
              </a:ext>
            </a:extLst>
          </p:cNvPr>
          <p:cNvSpPr txBox="1"/>
          <p:nvPr/>
        </p:nvSpPr>
        <p:spPr>
          <a:xfrm>
            <a:off x="5457737" y="6392487"/>
            <a:ext cx="133117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lv-LV" sz="1400" dirty="0">
                <a:latin typeface="Verdana" panose="020B0604030504040204" pitchFamily="34" charset="0"/>
                <a:ea typeface="Verdana" panose="020B0604030504040204" pitchFamily="34" charset="0"/>
              </a:rPr>
              <a:t>6</a:t>
            </a:r>
            <a:r>
              <a:rPr lang="en-GB" sz="1400" dirty="0">
                <a:latin typeface="Verdana" panose="020B0604030504040204" pitchFamily="34" charset="0"/>
                <a:ea typeface="Verdana" panose="020B0604030504040204" pitchFamily="34" charset="0"/>
              </a:rPr>
              <a:t>. </a:t>
            </a:r>
            <a:r>
              <a:rPr lang="en-GB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attēls</a:t>
            </a:r>
            <a:endParaRPr lang="ru-RU" sz="1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484" y="214673"/>
            <a:ext cx="9455684" cy="6011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1134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61D92-7BFF-F82A-E58E-F7B5B1DF9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9553" y="2147226"/>
            <a:ext cx="6452390" cy="2574051"/>
          </a:xfrm>
        </p:spPr>
        <p:txBody>
          <a:bodyPr/>
          <a:lstStyle/>
          <a:p>
            <a:r>
              <a:rPr lang="en-US" b="1" dirty="0">
                <a:latin typeface="Verdana"/>
                <a:ea typeface="Verdana"/>
              </a:rPr>
              <a:t>Datu </a:t>
            </a:r>
            <a:r>
              <a:rPr lang="en-US" b="1" dirty="0" err="1">
                <a:latin typeface="Verdana"/>
                <a:ea typeface="Verdana"/>
              </a:rPr>
              <a:t>plūsmas</a:t>
            </a:r>
            <a:r>
              <a:rPr lang="en-US" b="1" dirty="0">
                <a:latin typeface="Verdana"/>
                <a:ea typeface="Verdana"/>
              </a:rPr>
              <a:t> </a:t>
            </a:r>
            <a:r>
              <a:rPr lang="en-US" b="1" dirty="0" err="1">
                <a:latin typeface="Verdana"/>
                <a:ea typeface="Verdana"/>
              </a:rPr>
              <a:t>diagramma</a:t>
            </a:r>
            <a:endParaRPr lang="en-GB" dirty="0" err="1">
              <a:solidFill>
                <a:srgbClr val="000000"/>
              </a:solidFill>
              <a:latin typeface="Verdana"/>
              <a:ea typeface="Verdana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622858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E:\drawio\familyacc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0026" y="272444"/>
            <a:ext cx="9786450" cy="586846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Прямоугольник 3"/>
          <p:cNvSpPr/>
          <p:nvPr/>
        </p:nvSpPr>
        <p:spPr>
          <a:xfrm>
            <a:off x="3922347" y="6369987"/>
            <a:ext cx="3108543" cy="307777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r>
              <a:rPr lang="lv-LV" sz="1400" b="1" kern="0" dirty="0">
                <a:latin typeface="Verdana"/>
                <a:ea typeface="Verdana"/>
              </a:rPr>
              <a:t>Jaunas ģimenes autorizācija </a:t>
            </a:r>
            <a:endParaRPr lang="en-US" sz="1400">
              <a:latin typeface="Verdana"/>
              <a:ea typeface="Verdan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5BE20D-23A6-09EB-E9DC-8A03EC0D276C}"/>
              </a:ext>
            </a:extLst>
          </p:cNvPr>
          <p:cNvSpPr txBox="1"/>
          <p:nvPr/>
        </p:nvSpPr>
        <p:spPr>
          <a:xfrm>
            <a:off x="6787892" y="6370548"/>
            <a:ext cx="133117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lv-LV" sz="1400" dirty="0">
                <a:latin typeface="Verdana" panose="020B0604030504040204" pitchFamily="34" charset="0"/>
                <a:ea typeface="Verdana" panose="020B0604030504040204" pitchFamily="34" charset="0"/>
              </a:rPr>
              <a:t>7</a:t>
            </a:r>
            <a:r>
              <a:rPr lang="en-GB" sz="1400" dirty="0">
                <a:latin typeface="Verdana" panose="020B0604030504040204" pitchFamily="34" charset="0"/>
                <a:ea typeface="Verdana" panose="020B0604030504040204" pitchFamily="34" charset="0"/>
              </a:rPr>
              <a:t>. </a:t>
            </a:r>
            <a:r>
              <a:rPr lang="en-GB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attēls</a:t>
            </a:r>
            <a:endParaRPr lang="ru-RU" sz="1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97401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37007" y="2746638"/>
            <a:ext cx="6284302" cy="1363816"/>
          </a:xfrm>
        </p:spPr>
        <p:txBody>
          <a:bodyPr anchor="ctr"/>
          <a:lstStyle/>
          <a:p>
            <a:r>
              <a:rPr lang="en-US" b="1" dirty="0" err="1">
                <a:latin typeface="Verdana" panose="020B0604030504040204" pitchFamily="34" charset="0"/>
                <a:ea typeface="Verdana" panose="020B0604030504040204" pitchFamily="34" charset="0"/>
              </a:rPr>
              <a:t>Tabulu</a:t>
            </a:r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b="1" dirty="0" err="1">
                <a:latin typeface="Verdana" panose="020B0604030504040204" pitchFamily="34" charset="0"/>
                <a:ea typeface="Verdana" panose="020B0604030504040204" pitchFamily="34" charset="0"/>
              </a:rPr>
              <a:t>saišu</a:t>
            </a:r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b="1" dirty="0" err="1">
                <a:latin typeface="Verdana" panose="020B0604030504040204" pitchFamily="34" charset="0"/>
                <a:ea typeface="Verdana" panose="020B0604030504040204" pitchFamily="34" charset="0"/>
              </a:rPr>
              <a:t>shēma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64540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E:\drawio\db.pn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127" y="230841"/>
            <a:ext cx="11254131" cy="6103457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B5BE20D-23A6-09EB-E9DC-8A03EC0D276C}"/>
              </a:ext>
            </a:extLst>
          </p:cNvPr>
          <p:cNvSpPr txBox="1"/>
          <p:nvPr/>
        </p:nvSpPr>
        <p:spPr>
          <a:xfrm>
            <a:off x="5436602" y="6417425"/>
            <a:ext cx="133117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lv-LV" sz="1400" dirty="0">
                <a:latin typeface="Verdana" panose="020B0604030504040204" pitchFamily="34" charset="0"/>
                <a:ea typeface="Verdana" panose="020B0604030504040204" pitchFamily="34" charset="0"/>
              </a:rPr>
              <a:t>8</a:t>
            </a:r>
            <a:r>
              <a:rPr lang="en-GB" sz="1400" dirty="0">
                <a:latin typeface="Verdana" panose="020B0604030504040204" pitchFamily="34" charset="0"/>
                <a:ea typeface="Verdana" panose="020B0604030504040204" pitchFamily="34" charset="0"/>
              </a:rPr>
              <a:t>. </a:t>
            </a:r>
            <a:r>
              <a:rPr lang="en-GB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attēls</a:t>
            </a:r>
            <a:endParaRPr lang="ru-RU" sz="1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5373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21518A-9EEF-2853-0B2B-F300AB8F5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803" y="-262547"/>
            <a:ext cx="12615530" cy="1325563"/>
          </a:xfrm>
        </p:spPr>
        <p:txBody>
          <a:bodyPr/>
          <a:lstStyle/>
          <a:p>
            <a:r>
              <a:rPr lang="en-US" b="1" dirty="0" err="1">
                <a:latin typeface="Verdana"/>
                <a:ea typeface="Verdana"/>
              </a:rPr>
              <a:t>Programmas</a:t>
            </a:r>
            <a:r>
              <a:rPr lang="en-US" b="1" dirty="0">
                <a:latin typeface="Verdana"/>
                <a:ea typeface="Verdana"/>
              </a:rPr>
              <a:t> </a:t>
            </a:r>
            <a:r>
              <a:rPr lang="en-US" b="1" dirty="0" err="1">
                <a:latin typeface="Verdana"/>
                <a:ea typeface="Verdana"/>
              </a:rPr>
              <a:t>galvenā</a:t>
            </a:r>
            <a:r>
              <a:rPr lang="en-US" b="1" dirty="0">
                <a:latin typeface="Verdana"/>
                <a:ea typeface="Verdana"/>
              </a:rPr>
              <a:t> </a:t>
            </a:r>
            <a:r>
              <a:rPr lang="en-US" b="1" dirty="0" err="1">
                <a:latin typeface="Verdana"/>
                <a:ea typeface="Verdana"/>
              </a:rPr>
              <a:t>loga</a:t>
            </a:r>
            <a:r>
              <a:rPr lang="en-US" b="1" dirty="0">
                <a:latin typeface="Verdana"/>
                <a:ea typeface="Verdana"/>
              </a:rPr>
              <a:t> </a:t>
            </a:r>
            <a:r>
              <a:rPr lang="en-US" b="1" dirty="0" err="1">
                <a:latin typeface="Verdana"/>
                <a:ea typeface="Verdana"/>
              </a:rPr>
              <a:t>attēls</a:t>
            </a:r>
            <a:endParaRPr lang="en-US" b="1" dirty="0" err="1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546" y="1274127"/>
            <a:ext cx="7163519" cy="45793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B5BE20D-23A6-09EB-E9DC-8A03EC0D276C}"/>
              </a:ext>
            </a:extLst>
          </p:cNvPr>
          <p:cNvSpPr txBox="1"/>
          <p:nvPr/>
        </p:nvSpPr>
        <p:spPr>
          <a:xfrm>
            <a:off x="5430132" y="6122411"/>
            <a:ext cx="133117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lv-LV" sz="1400" dirty="0">
                <a:latin typeface="Verdana" panose="020B0604030504040204" pitchFamily="34" charset="0"/>
                <a:ea typeface="Verdana" panose="020B0604030504040204" pitchFamily="34" charset="0"/>
              </a:rPr>
              <a:t>9</a:t>
            </a:r>
            <a:r>
              <a:rPr lang="en-GB" sz="1400" dirty="0">
                <a:latin typeface="Verdana" panose="020B0604030504040204" pitchFamily="34" charset="0"/>
                <a:ea typeface="Verdana" panose="020B0604030504040204" pitchFamily="34" charset="0"/>
              </a:rPr>
              <a:t>. </a:t>
            </a:r>
            <a:r>
              <a:rPr lang="en-GB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attēls</a:t>
            </a:r>
            <a:endParaRPr lang="ru-RU" sz="1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5" name="Picture 4" descr="Screenshot of a computer screen&#10;&#10;AI-generated content may be incorrect.">
            <a:extLst>
              <a:ext uri="{FF2B5EF4-FFF2-40B4-BE49-F238E27FC236}">
                <a16:creationId xmlns:a16="http://schemas.microsoft.com/office/drawing/2014/main" id="{B0538832-0599-FB59-0333-DC260AFDD2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2173" y="1273215"/>
            <a:ext cx="2146947" cy="4581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277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Background Fill">
            <a:extLst>
              <a:ext uri="{FF2B5EF4-FFF2-40B4-BE49-F238E27FC236}">
                <a16:creationId xmlns:a16="http://schemas.microsoft.com/office/drawing/2014/main" id="{63E5BFF9-8D75-4F8D-AA2E-E9AF4156BF0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Color Fill">
            <a:extLst>
              <a:ext uri="{FF2B5EF4-FFF2-40B4-BE49-F238E27FC236}">
                <a16:creationId xmlns:a16="http://schemas.microsoft.com/office/drawing/2014/main" id="{5074A657-B6F7-47AE-B719-D3590207EAA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F495AF5-CD36-4EE9-95DB-86D2A393102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3227"/>
            <a:ext cx="12192000" cy="6861227"/>
            <a:chOff x="0" y="-3227"/>
            <a:chExt cx="12192000" cy="6861227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8EFB5B0C-DD84-4ACA-8A57-0DF5C9BAD44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58790" y="124188"/>
              <a:ext cx="215755" cy="21575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537C3102-63A7-409A-A09D-56EBB4C8125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79553" y="2866365"/>
              <a:ext cx="697984" cy="697984"/>
            </a:xfrm>
            <a:prstGeom prst="ellipse">
              <a:avLst/>
            </a:prstGeom>
            <a:solidFill>
              <a:schemeClr val="accent1">
                <a:alpha val="65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7A99EBC8-DA67-46D1-BE90-B240465A80D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56134" y="3762066"/>
              <a:ext cx="230192" cy="230191"/>
            </a:xfrm>
            <a:prstGeom prst="ellipse">
              <a:avLst/>
            </a:prstGeom>
            <a:solidFill>
              <a:schemeClr val="accent4">
                <a:lumMod val="20000"/>
                <a:lumOff val="8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Graphic 9">
              <a:extLst>
                <a:ext uri="{FF2B5EF4-FFF2-40B4-BE49-F238E27FC236}">
                  <a16:creationId xmlns:a16="http://schemas.microsoft.com/office/drawing/2014/main" id="{465540EA-046F-4AF0-8CEB-E2EFE6FD03C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9451544" y="-3227"/>
              <a:ext cx="2740456" cy="2740456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" name="Graphic 9">
              <a:extLst>
                <a:ext uri="{FF2B5EF4-FFF2-40B4-BE49-F238E27FC236}">
                  <a16:creationId xmlns:a16="http://schemas.microsoft.com/office/drawing/2014/main" id="{5FE32756-B183-449F-BD63-0CD97BABAC7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9621871" y="163409"/>
              <a:ext cx="2387894" cy="2387894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B81A06E5-D53E-4F08-917B-C03F56DFD92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3060" y="599153"/>
              <a:ext cx="823413" cy="1000074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349B903-4F98-4946-9F6B-A42679E0DE9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903403"/>
              <a:ext cx="1715504" cy="2954597"/>
            </a:xfrm>
            <a:custGeom>
              <a:avLst/>
              <a:gdLst>
                <a:gd name="connsiteX0" fmla="*/ 0 w 2429360"/>
                <a:gd name="connsiteY0" fmla="*/ 0 h 4184064"/>
                <a:gd name="connsiteX1" fmla="*/ 329124 w 2429360"/>
                <a:gd name="connsiteY1" fmla="*/ 0 h 4184064"/>
                <a:gd name="connsiteX2" fmla="*/ 2429360 w 2429360"/>
                <a:gd name="connsiteY2" fmla="*/ 2100236 h 4184064"/>
                <a:gd name="connsiteX3" fmla="*/ 2429360 w 2429360"/>
                <a:gd name="connsiteY3" fmla="*/ 4184064 h 4184064"/>
                <a:gd name="connsiteX4" fmla="*/ 132331 w 2429360"/>
                <a:gd name="connsiteY4" fmla="*/ 4184064 h 4184064"/>
                <a:gd name="connsiteX5" fmla="*/ 120545 w 2429360"/>
                <a:gd name="connsiteY5" fmla="*/ 4183469 h 4184064"/>
                <a:gd name="connsiteX6" fmla="*/ 0 w 2429360"/>
                <a:gd name="connsiteY6" fmla="*/ 4165072 h 4184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29360" h="4184064">
                  <a:moveTo>
                    <a:pt x="0" y="0"/>
                  </a:moveTo>
                  <a:lnTo>
                    <a:pt x="329124" y="0"/>
                  </a:lnTo>
                  <a:cubicBezTo>
                    <a:pt x="1489065" y="0"/>
                    <a:pt x="2429360" y="940295"/>
                    <a:pt x="2429360" y="2100236"/>
                  </a:cubicBezTo>
                  <a:lnTo>
                    <a:pt x="2429360" y="4184064"/>
                  </a:lnTo>
                  <a:lnTo>
                    <a:pt x="132331" y="4184064"/>
                  </a:lnTo>
                  <a:lnTo>
                    <a:pt x="120545" y="4183469"/>
                  </a:lnTo>
                  <a:lnTo>
                    <a:pt x="0" y="4165072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53BC73C-A7AD-48F4-B586-4F781FCB9C1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168300"/>
              <a:ext cx="1533337" cy="2555470"/>
            </a:xfrm>
            <a:custGeom>
              <a:avLst/>
              <a:gdLst>
                <a:gd name="connsiteX0" fmla="*/ 0 w 1986804"/>
                <a:gd name="connsiteY0" fmla="*/ 0 h 2902159"/>
                <a:gd name="connsiteX1" fmla="*/ 533594 w 1986804"/>
                <a:gd name="connsiteY1" fmla="*/ 0 h 2902159"/>
                <a:gd name="connsiteX2" fmla="*/ 1986804 w 1986804"/>
                <a:gd name="connsiteY2" fmla="*/ 1453211 h 2902159"/>
                <a:gd name="connsiteX3" fmla="*/ 1986804 w 1986804"/>
                <a:gd name="connsiteY3" fmla="*/ 2902159 h 2902159"/>
                <a:gd name="connsiteX4" fmla="*/ 537856 w 1986804"/>
                <a:gd name="connsiteY4" fmla="*/ 2902159 h 2902159"/>
                <a:gd name="connsiteX5" fmla="*/ 105713 w 1986804"/>
                <a:gd name="connsiteY5" fmla="*/ 2836826 h 2902159"/>
                <a:gd name="connsiteX6" fmla="*/ 0 w 1986804"/>
                <a:gd name="connsiteY6" fmla="*/ 2798136 h 2902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86804" h="2902159">
                  <a:moveTo>
                    <a:pt x="0" y="0"/>
                  </a:moveTo>
                  <a:lnTo>
                    <a:pt x="533594" y="0"/>
                  </a:lnTo>
                  <a:cubicBezTo>
                    <a:pt x="1336188" y="0"/>
                    <a:pt x="1986804" y="650616"/>
                    <a:pt x="1986804" y="1453211"/>
                  </a:cubicBezTo>
                  <a:lnTo>
                    <a:pt x="1986804" y="2902159"/>
                  </a:lnTo>
                  <a:lnTo>
                    <a:pt x="537856" y="2902159"/>
                  </a:lnTo>
                  <a:cubicBezTo>
                    <a:pt x="387370" y="2902159"/>
                    <a:pt x="242226" y="2879286"/>
                    <a:pt x="105713" y="2836826"/>
                  </a:cubicBezTo>
                  <a:lnTo>
                    <a:pt x="0" y="279813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EB3270C9-025A-41DD-997B-C8C6A6CBA13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85047" y="4685933"/>
              <a:ext cx="2406953" cy="2172067"/>
            </a:xfrm>
            <a:custGeom>
              <a:avLst/>
              <a:gdLst>
                <a:gd name="connsiteX0" fmla="*/ 1229573 w 2406953"/>
                <a:gd name="connsiteY0" fmla="*/ 0 h 2172067"/>
                <a:gd name="connsiteX1" fmla="*/ 2406313 w 2406953"/>
                <a:gd name="connsiteY1" fmla="*/ 1496275 h 2172067"/>
                <a:gd name="connsiteX2" fmla="*/ 2406953 w 2406953"/>
                <a:gd name="connsiteY2" fmla="*/ 1499327 h 2172067"/>
                <a:gd name="connsiteX3" fmla="*/ 2406953 w 2406953"/>
                <a:gd name="connsiteY3" fmla="*/ 2172067 h 2172067"/>
                <a:gd name="connsiteX4" fmla="*/ 36154 w 2406953"/>
                <a:gd name="connsiteY4" fmla="*/ 2172067 h 2172067"/>
                <a:gd name="connsiteX5" fmla="*/ 13809 w 2406953"/>
                <a:gd name="connsiteY5" fmla="*/ 2065529 h 2172067"/>
                <a:gd name="connsiteX6" fmla="*/ 0 w 2406953"/>
                <a:gd name="connsiteY6" fmla="*/ 1873933 h 2172067"/>
                <a:gd name="connsiteX7" fmla="*/ 1229573 w 2406953"/>
                <a:gd name="connsiteY7" fmla="*/ 0 h 2172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06953" h="2172067">
                  <a:moveTo>
                    <a:pt x="1229573" y="0"/>
                  </a:moveTo>
                  <a:cubicBezTo>
                    <a:pt x="1229573" y="0"/>
                    <a:pt x="2170965" y="642363"/>
                    <a:pt x="2406313" y="1496275"/>
                  </a:cubicBezTo>
                  <a:lnTo>
                    <a:pt x="2406953" y="1499327"/>
                  </a:lnTo>
                  <a:lnTo>
                    <a:pt x="2406953" y="2172067"/>
                  </a:lnTo>
                  <a:lnTo>
                    <a:pt x="36154" y="2172067"/>
                  </a:lnTo>
                  <a:lnTo>
                    <a:pt x="13809" y="2065529"/>
                  </a:lnTo>
                  <a:cubicBezTo>
                    <a:pt x="4803" y="2002533"/>
                    <a:pt x="0" y="1938616"/>
                    <a:pt x="0" y="1873933"/>
                  </a:cubicBezTo>
                  <a:cubicBezTo>
                    <a:pt x="0" y="839004"/>
                    <a:pt x="1229573" y="0"/>
                    <a:pt x="1229573" y="0"/>
                  </a:cubicBezTo>
                  <a:close/>
                </a:path>
              </a:pathLst>
            </a:custGeom>
            <a:solidFill>
              <a:schemeClr val="accent1">
                <a:lumMod val="75000"/>
                <a:alpha val="65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3" name="Texture">
            <a:extLst>
              <a:ext uri="{FF2B5EF4-FFF2-40B4-BE49-F238E27FC236}">
                <a16:creationId xmlns:a16="http://schemas.microsoft.com/office/drawing/2014/main" id="{8DB0478B-1B97-4BFD-90B4-35597D8217C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1FA9ED-5D52-BA7B-D92D-B118CD701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730" y="523660"/>
            <a:ext cx="9901165" cy="1078961"/>
          </a:xfrm>
        </p:spPr>
        <p:txBody>
          <a:bodyPr>
            <a:noAutofit/>
          </a:bodyPr>
          <a:lstStyle/>
          <a:p>
            <a:pPr algn="ctr"/>
            <a:r>
              <a:rPr lang="ru-RU" b="1" dirty="0" err="1">
                <a:latin typeface="Verdana" panose="020B0604030504040204" pitchFamily="34" charset="0"/>
                <a:ea typeface="Verdana" panose="020B0604030504040204" pitchFamily="34" charset="0"/>
                <a:cs typeface="+mj-lt"/>
              </a:rPr>
              <a:t>Izmantoto</a:t>
            </a:r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  <a:cs typeface="+mj-lt"/>
              </a:rPr>
              <a:t> </a:t>
            </a:r>
            <a:r>
              <a:rPr lang="ru-RU" b="1" dirty="0" err="1">
                <a:latin typeface="Verdana" panose="020B0604030504040204" pitchFamily="34" charset="0"/>
                <a:ea typeface="Verdana" panose="020B0604030504040204" pitchFamily="34" charset="0"/>
                <a:cs typeface="+mj-lt"/>
              </a:rPr>
              <a:t>literatūru</a:t>
            </a:r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  <a:cs typeface="+mj-lt"/>
              </a:rPr>
              <a:t> </a:t>
            </a:r>
            <a:r>
              <a:rPr lang="ru-RU" b="1" dirty="0" err="1">
                <a:latin typeface="Verdana" panose="020B0604030504040204" pitchFamily="34" charset="0"/>
                <a:ea typeface="Verdana" panose="020B0604030504040204" pitchFamily="34" charset="0"/>
                <a:cs typeface="+mj-lt"/>
              </a:rPr>
              <a:t>un</a:t>
            </a:r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  <a:cs typeface="+mj-lt"/>
              </a:rPr>
              <a:t> </a:t>
            </a:r>
            <a:r>
              <a:rPr lang="ru-RU" b="1" dirty="0" err="1">
                <a:latin typeface="Verdana" panose="020B0604030504040204" pitchFamily="34" charset="0"/>
                <a:ea typeface="Verdana" panose="020B0604030504040204" pitchFamily="34" charset="0"/>
                <a:cs typeface="+mj-lt"/>
              </a:rPr>
              <a:t>avotu</a:t>
            </a:r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  <a:cs typeface="+mj-lt"/>
              </a:rPr>
              <a:t> </a:t>
            </a:r>
            <a:r>
              <a:rPr lang="ru-RU" b="1" dirty="0" err="1">
                <a:latin typeface="Verdana" panose="020B0604030504040204" pitchFamily="34" charset="0"/>
                <a:ea typeface="Verdana" panose="020B0604030504040204" pitchFamily="34" charset="0"/>
                <a:cs typeface="+mj-lt"/>
              </a:rPr>
              <a:t>saraksts</a:t>
            </a:r>
            <a:endParaRPr lang="ru-RU" b="1" dirty="0" err="1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560BF72-31B5-629C-5D80-9D07F77E30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7702" y="1810914"/>
            <a:ext cx="11886984" cy="523241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 sz="2400" dirty="0">
                <a:latin typeface="Verdana"/>
                <a:ea typeface="Verdana"/>
              </a:rPr>
              <a:t>Konspekts (Komunikācijas un prezentēšanas prasmes)</a:t>
            </a:r>
            <a:endParaRPr lang="en-US" dirty="0"/>
          </a:p>
          <a:p>
            <a:r>
              <a:rPr lang="ru-RU" sz="2400" dirty="0">
                <a:latin typeface="Verdana"/>
                <a:ea typeface="Verdana"/>
              </a:rPr>
              <a:t>Eksistejošo veikalu analīze</a:t>
            </a:r>
          </a:p>
          <a:p>
            <a:r>
              <a:rPr lang="ru-RU" sz="2400" dirty="0">
                <a:latin typeface="Verdana"/>
                <a:ea typeface="+mn-lt"/>
                <a:cs typeface="+mn-lt"/>
              </a:rPr>
              <a:t>Laravel </a:t>
            </a:r>
            <a:r>
              <a:rPr lang="ru-RU" sz="2400" dirty="0">
                <a:latin typeface="Verdana"/>
                <a:ea typeface="Verdana"/>
                <a:cs typeface="+mn-lt"/>
              </a:rPr>
              <a:t>[</a:t>
            </a:r>
            <a:r>
              <a:rPr lang="ru-RU" sz="2400" dirty="0" err="1">
                <a:latin typeface="Verdana"/>
                <a:ea typeface="Verdana"/>
                <a:cs typeface="+mn-lt"/>
              </a:rPr>
              <a:t>Skatīts</a:t>
            </a:r>
            <a:r>
              <a:rPr lang="ru-RU" sz="2400" dirty="0">
                <a:latin typeface="Verdana"/>
                <a:ea typeface="Verdana"/>
                <a:cs typeface="+mn-lt"/>
              </a:rPr>
              <a:t> 10.04.2026] </a:t>
            </a:r>
            <a:r>
              <a:rPr lang="ru-RU" sz="2400" dirty="0">
                <a:latin typeface="Verdana"/>
                <a:ea typeface="+mn-lt"/>
                <a:cs typeface="+mn-lt"/>
              </a:rPr>
              <a:t>https://laravel.com/ </a:t>
            </a:r>
          </a:p>
          <a:p>
            <a:r>
              <a:rPr lang="ru-RU" sz="2400" dirty="0">
                <a:latin typeface="Verdana"/>
                <a:ea typeface="+mn-lt"/>
                <a:cs typeface="+mn-lt"/>
              </a:rPr>
              <a:t>Vuejs </a:t>
            </a:r>
            <a:r>
              <a:rPr lang="ru-RU" sz="2400" dirty="0">
                <a:latin typeface="Verdana"/>
                <a:ea typeface="Verdana"/>
                <a:cs typeface="+mn-lt"/>
              </a:rPr>
              <a:t>[</a:t>
            </a:r>
            <a:r>
              <a:rPr lang="ru-RU" sz="2400" dirty="0" err="1">
                <a:latin typeface="Verdana"/>
                <a:ea typeface="Verdana"/>
                <a:cs typeface="+mn-lt"/>
              </a:rPr>
              <a:t>Skatīts</a:t>
            </a:r>
            <a:r>
              <a:rPr lang="ru-RU" sz="2400" dirty="0">
                <a:latin typeface="Verdana"/>
                <a:ea typeface="Verdana"/>
                <a:cs typeface="+mn-lt"/>
              </a:rPr>
              <a:t> 01.02.2026] </a:t>
            </a:r>
            <a:r>
              <a:rPr lang="ru-RU" sz="2400" dirty="0">
                <a:latin typeface="Verdana"/>
                <a:ea typeface="+mn-lt"/>
                <a:cs typeface="+mn-lt"/>
              </a:rPr>
              <a:t>https://vuejs.org/ </a:t>
            </a:r>
          </a:p>
          <a:p>
            <a:r>
              <a:rPr lang="ru-RU" sz="2400" dirty="0" err="1">
                <a:latin typeface="Verdana"/>
                <a:ea typeface="+mn-lt"/>
                <a:cs typeface="+mn-lt"/>
              </a:rPr>
              <a:t>Digitalsilk</a:t>
            </a:r>
            <a:r>
              <a:rPr lang="ru-RU" sz="2400" dirty="0">
                <a:latin typeface="Verdana"/>
                <a:ea typeface="+mn-lt"/>
                <a:cs typeface="+mn-lt"/>
              </a:rPr>
              <a:t> </a:t>
            </a:r>
            <a:r>
              <a:rPr lang="ru-RU" sz="2400" dirty="0">
                <a:latin typeface="Verdana"/>
                <a:ea typeface="Verdana"/>
                <a:cs typeface="+mn-lt"/>
              </a:rPr>
              <a:t>[</a:t>
            </a:r>
            <a:r>
              <a:rPr lang="ru-RU" sz="2400" dirty="0" err="1">
                <a:latin typeface="Verdana"/>
                <a:ea typeface="Verdana"/>
                <a:cs typeface="+mn-lt"/>
              </a:rPr>
              <a:t>Skatīts</a:t>
            </a:r>
            <a:r>
              <a:rPr lang="ru-RU" sz="2400" dirty="0">
                <a:latin typeface="Verdana"/>
                <a:ea typeface="Verdana"/>
                <a:cs typeface="+mn-lt"/>
              </a:rPr>
              <a:t> </a:t>
            </a:r>
            <a:r>
              <a:rPr lang="ru-RU" sz="2400" dirty="0" smtClean="0">
                <a:latin typeface="Verdana"/>
                <a:ea typeface="Verdana"/>
                <a:cs typeface="+mn-lt"/>
              </a:rPr>
              <a:t>0</a:t>
            </a:r>
            <a:r>
              <a:rPr lang="lv-LV" sz="2400" dirty="0" smtClean="0">
                <a:latin typeface="Verdana"/>
                <a:ea typeface="Verdana"/>
                <a:cs typeface="+mn-lt"/>
              </a:rPr>
              <a:t>7</a:t>
            </a:r>
            <a:r>
              <a:rPr lang="ru-RU" sz="2400" dirty="0" smtClean="0">
                <a:latin typeface="Verdana"/>
                <a:ea typeface="Verdana"/>
                <a:cs typeface="+mn-lt"/>
              </a:rPr>
              <a:t>.0</a:t>
            </a:r>
            <a:r>
              <a:rPr lang="lv-LV" sz="2400" dirty="0" smtClean="0">
                <a:latin typeface="Verdana"/>
                <a:ea typeface="Verdana"/>
                <a:cs typeface="+mn-lt"/>
              </a:rPr>
              <a:t>1</a:t>
            </a:r>
            <a:r>
              <a:rPr lang="ru-RU" sz="2400" dirty="0" smtClean="0">
                <a:latin typeface="Verdana"/>
                <a:ea typeface="Verdana"/>
                <a:cs typeface="+mn-lt"/>
              </a:rPr>
              <a:t>.2026</a:t>
            </a:r>
            <a:r>
              <a:rPr lang="ru-RU" sz="2400" dirty="0">
                <a:latin typeface="Verdana"/>
                <a:ea typeface="Verdana"/>
                <a:cs typeface="+mn-lt"/>
              </a:rPr>
              <a:t>] </a:t>
            </a:r>
            <a:r>
              <a:rPr lang="ru-RU" sz="2400" dirty="0" smtClean="0">
                <a:latin typeface="Verdana"/>
                <a:ea typeface="+mn-lt"/>
                <a:cs typeface="+mn-lt"/>
              </a:rPr>
              <a:t>https</a:t>
            </a:r>
            <a:r>
              <a:rPr lang="ru-RU" sz="2400" dirty="0">
                <a:latin typeface="Verdana"/>
                <a:ea typeface="+mn-lt"/>
                <a:cs typeface="+mn-lt"/>
              </a:rPr>
              <a:t>://www.digitalsilk.com/digital-trends/how-to-start-an-ecommerce-business</a:t>
            </a:r>
          </a:p>
          <a:p>
            <a:r>
              <a:rPr lang="en-GB" sz="2400" dirty="0">
                <a:latin typeface="Verdana"/>
                <a:ea typeface="+mn-lt"/>
                <a:cs typeface="+mn-lt"/>
              </a:rPr>
              <a:t>1. </a:t>
            </a:r>
            <a:r>
              <a:rPr lang="en-GB" sz="2400" dirty="0" err="1">
                <a:latin typeface="Verdana"/>
                <a:ea typeface="+mn-lt"/>
                <a:cs typeface="+mn-lt"/>
              </a:rPr>
              <a:t>attēls</a:t>
            </a:r>
            <a:r>
              <a:rPr lang="en-GB" sz="2400" dirty="0">
                <a:latin typeface="Verdana"/>
                <a:ea typeface="+mn-lt"/>
                <a:cs typeface="+mn-lt"/>
              </a:rPr>
              <a:t>:</a:t>
            </a:r>
            <a:r>
              <a:rPr lang="ru-RU" sz="2400" dirty="0">
                <a:latin typeface="Verdana"/>
                <a:ea typeface="+mn-lt"/>
                <a:cs typeface="+mn-lt"/>
              </a:rPr>
              <a:t> RVT [Skatīts 01.02.2026] - https://www.rvt.lv/wp-content/uploads/2021/03/cropped-RVT-100-gadi-logo-e1616052812909.png</a:t>
            </a:r>
            <a:endParaRPr lang="en-US" sz="2400" dirty="0">
              <a:latin typeface="Verdana"/>
              <a:ea typeface="+mn-lt"/>
              <a:cs typeface="+mn-lt"/>
            </a:endParaRPr>
          </a:p>
          <a:p>
            <a:r>
              <a:rPr lang="en-GB" sz="2400" dirty="0">
                <a:latin typeface="Verdana"/>
                <a:ea typeface="+mn-lt"/>
                <a:cs typeface="+mn-lt"/>
              </a:rPr>
              <a:t>2. </a:t>
            </a:r>
            <a:r>
              <a:rPr lang="en-GB" sz="2400" dirty="0" err="1">
                <a:latin typeface="Verdana"/>
                <a:ea typeface="+mn-lt"/>
                <a:cs typeface="+mn-lt"/>
              </a:rPr>
              <a:t>attēls</a:t>
            </a:r>
            <a:r>
              <a:rPr lang="en-GB" sz="2400" dirty="0">
                <a:latin typeface="Verdana"/>
                <a:ea typeface="+mn-lt"/>
                <a:cs typeface="+mn-lt"/>
              </a:rPr>
              <a:t>: </a:t>
            </a:r>
            <a:r>
              <a:rPr lang="ru-RU" sz="2400" dirty="0">
                <a:latin typeface="Verdana"/>
                <a:ea typeface="+mn-lt"/>
                <a:cs typeface="+mn-lt"/>
              </a:rPr>
              <a:t>Wp [Skatīts 01.02.2026] - https://i0.wp.com/aumprakse.lv/wordpress/wp-content/uploads/2015/02/apzinatiba_checklist.jpg?fit=400%2C300&amp;ssl=1 </a:t>
            </a:r>
            <a:r>
              <a:rPr lang="ru-RU" sz="2400" dirty="0">
                <a:latin typeface="Verdana"/>
                <a:ea typeface="Verdana"/>
                <a:cs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063048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CDAAD9-AB94-FC66-7298-8B6B6B3CC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Background Fill">
            <a:extLst>
              <a:ext uri="{FF2B5EF4-FFF2-40B4-BE49-F238E27FC236}">
                <a16:creationId xmlns:a16="http://schemas.microsoft.com/office/drawing/2014/main" id="{10D86EC7-624A-E5BC-5D22-78F01C206C3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Color Fill">
            <a:extLst>
              <a:ext uri="{FF2B5EF4-FFF2-40B4-BE49-F238E27FC236}">
                <a16:creationId xmlns:a16="http://schemas.microsoft.com/office/drawing/2014/main" id="{EA9524CC-746A-AAAA-2EFE-08F1E4BCBB6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FA104E5-148A-D72C-AE4A-11FA52598E3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3227"/>
            <a:ext cx="12192000" cy="6861227"/>
            <a:chOff x="0" y="-3227"/>
            <a:chExt cx="12192000" cy="6861227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749903F2-8F34-A675-66F3-30E6098E08C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58790" y="124188"/>
              <a:ext cx="215755" cy="21575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75C7856D-2064-BA58-8C3A-0BDB093C0E6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79553" y="2866365"/>
              <a:ext cx="697984" cy="697984"/>
            </a:xfrm>
            <a:prstGeom prst="ellipse">
              <a:avLst/>
            </a:prstGeom>
            <a:solidFill>
              <a:schemeClr val="accent1">
                <a:alpha val="65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D7C32784-EA31-E7A3-D096-6FE42A78D6D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56134" y="3762066"/>
              <a:ext cx="230192" cy="230191"/>
            </a:xfrm>
            <a:prstGeom prst="ellipse">
              <a:avLst/>
            </a:prstGeom>
            <a:solidFill>
              <a:schemeClr val="accent4">
                <a:lumMod val="20000"/>
                <a:lumOff val="8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Graphic 9">
              <a:extLst>
                <a:ext uri="{FF2B5EF4-FFF2-40B4-BE49-F238E27FC236}">
                  <a16:creationId xmlns:a16="http://schemas.microsoft.com/office/drawing/2014/main" id="{51B9888F-0945-4C60-72BA-E8416F9449E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9451544" y="-3227"/>
              <a:ext cx="2740456" cy="2740456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" name="Graphic 9">
              <a:extLst>
                <a:ext uri="{FF2B5EF4-FFF2-40B4-BE49-F238E27FC236}">
                  <a16:creationId xmlns:a16="http://schemas.microsoft.com/office/drawing/2014/main" id="{44D9A612-0E5A-84C4-87CC-CB95E5CDDB1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9621871" y="163409"/>
              <a:ext cx="2387894" cy="2387894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C9C21E2-69EA-16D0-B9D4-94DEF7A5B76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3060" y="599153"/>
              <a:ext cx="823413" cy="1000074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CDECE33-0B39-0063-AC47-FE432285574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903403"/>
              <a:ext cx="1715504" cy="2954597"/>
            </a:xfrm>
            <a:custGeom>
              <a:avLst/>
              <a:gdLst>
                <a:gd name="connsiteX0" fmla="*/ 0 w 2429360"/>
                <a:gd name="connsiteY0" fmla="*/ 0 h 4184064"/>
                <a:gd name="connsiteX1" fmla="*/ 329124 w 2429360"/>
                <a:gd name="connsiteY1" fmla="*/ 0 h 4184064"/>
                <a:gd name="connsiteX2" fmla="*/ 2429360 w 2429360"/>
                <a:gd name="connsiteY2" fmla="*/ 2100236 h 4184064"/>
                <a:gd name="connsiteX3" fmla="*/ 2429360 w 2429360"/>
                <a:gd name="connsiteY3" fmla="*/ 4184064 h 4184064"/>
                <a:gd name="connsiteX4" fmla="*/ 132331 w 2429360"/>
                <a:gd name="connsiteY4" fmla="*/ 4184064 h 4184064"/>
                <a:gd name="connsiteX5" fmla="*/ 120545 w 2429360"/>
                <a:gd name="connsiteY5" fmla="*/ 4183469 h 4184064"/>
                <a:gd name="connsiteX6" fmla="*/ 0 w 2429360"/>
                <a:gd name="connsiteY6" fmla="*/ 4165072 h 4184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29360" h="4184064">
                  <a:moveTo>
                    <a:pt x="0" y="0"/>
                  </a:moveTo>
                  <a:lnTo>
                    <a:pt x="329124" y="0"/>
                  </a:lnTo>
                  <a:cubicBezTo>
                    <a:pt x="1489065" y="0"/>
                    <a:pt x="2429360" y="940295"/>
                    <a:pt x="2429360" y="2100236"/>
                  </a:cubicBezTo>
                  <a:lnTo>
                    <a:pt x="2429360" y="4184064"/>
                  </a:lnTo>
                  <a:lnTo>
                    <a:pt x="132331" y="4184064"/>
                  </a:lnTo>
                  <a:lnTo>
                    <a:pt x="120545" y="4183469"/>
                  </a:lnTo>
                  <a:lnTo>
                    <a:pt x="0" y="4165072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B16F76F-1972-A319-61D7-59CB76FB371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168300"/>
              <a:ext cx="1533337" cy="2555470"/>
            </a:xfrm>
            <a:custGeom>
              <a:avLst/>
              <a:gdLst>
                <a:gd name="connsiteX0" fmla="*/ 0 w 1986804"/>
                <a:gd name="connsiteY0" fmla="*/ 0 h 2902159"/>
                <a:gd name="connsiteX1" fmla="*/ 533594 w 1986804"/>
                <a:gd name="connsiteY1" fmla="*/ 0 h 2902159"/>
                <a:gd name="connsiteX2" fmla="*/ 1986804 w 1986804"/>
                <a:gd name="connsiteY2" fmla="*/ 1453211 h 2902159"/>
                <a:gd name="connsiteX3" fmla="*/ 1986804 w 1986804"/>
                <a:gd name="connsiteY3" fmla="*/ 2902159 h 2902159"/>
                <a:gd name="connsiteX4" fmla="*/ 537856 w 1986804"/>
                <a:gd name="connsiteY4" fmla="*/ 2902159 h 2902159"/>
                <a:gd name="connsiteX5" fmla="*/ 105713 w 1986804"/>
                <a:gd name="connsiteY5" fmla="*/ 2836826 h 2902159"/>
                <a:gd name="connsiteX6" fmla="*/ 0 w 1986804"/>
                <a:gd name="connsiteY6" fmla="*/ 2798136 h 2902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86804" h="2902159">
                  <a:moveTo>
                    <a:pt x="0" y="0"/>
                  </a:moveTo>
                  <a:lnTo>
                    <a:pt x="533594" y="0"/>
                  </a:lnTo>
                  <a:cubicBezTo>
                    <a:pt x="1336188" y="0"/>
                    <a:pt x="1986804" y="650616"/>
                    <a:pt x="1986804" y="1453211"/>
                  </a:cubicBezTo>
                  <a:lnTo>
                    <a:pt x="1986804" y="2902159"/>
                  </a:lnTo>
                  <a:lnTo>
                    <a:pt x="537856" y="2902159"/>
                  </a:lnTo>
                  <a:cubicBezTo>
                    <a:pt x="387370" y="2902159"/>
                    <a:pt x="242226" y="2879286"/>
                    <a:pt x="105713" y="2836826"/>
                  </a:cubicBezTo>
                  <a:lnTo>
                    <a:pt x="0" y="279813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15A537C-5A38-ECA7-CE61-65854D2EBF8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85047" y="4685933"/>
              <a:ext cx="2406953" cy="2172067"/>
            </a:xfrm>
            <a:custGeom>
              <a:avLst/>
              <a:gdLst>
                <a:gd name="connsiteX0" fmla="*/ 1229573 w 2406953"/>
                <a:gd name="connsiteY0" fmla="*/ 0 h 2172067"/>
                <a:gd name="connsiteX1" fmla="*/ 2406313 w 2406953"/>
                <a:gd name="connsiteY1" fmla="*/ 1496275 h 2172067"/>
                <a:gd name="connsiteX2" fmla="*/ 2406953 w 2406953"/>
                <a:gd name="connsiteY2" fmla="*/ 1499327 h 2172067"/>
                <a:gd name="connsiteX3" fmla="*/ 2406953 w 2406953"/>
                <a:gd name="connsiteY3" fmla="*/ 2172067 h 2172067"/>
                <a:gd name="connsiteX4" fmla="*/ 36154 w 2406953"/>
                <a:gd name="connsiteY4" fmla="*/ 2172067 h 2172067"/>
                <a:gd name="connsiteX5" fmla="*/ 13809 w 2406953"/>
                <a:gd name="connsiteY5" fmla="*/ 2065529 h 2172067"/>
                <a:gd name="connsiteX6" fmla="*/ 0 w 2406953"/>
                <a:gd name="connsiteY6" fmla="*/ 1873933 h 2172067"/>
                <a:gd name="connsiteX7" fmla="*/ 1229573 w 2406953"/>
                <a:gd name="connsiteY7" fmla="*/ 0 h 2172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06953" h="2172067">
                  <a:moveTo>
                    <a:pt x="1229573" y="0"/>
                  </a:moveTo>
                  <a:cubicBezTo>
                    <a:pt x="1229573" y="0"/>
                    <a:pt x="2170965" y="642363"/>
                    <a:pt x="2406313" y="1496275"/>
                  </a:cubicBezTo>
                  <a:lnTo>
                    <a:pt x="2406953" y="1499327"/>
                  </a:lnTo>
                  <a:lnTo>
                    <a:pt x="2406953" y="2172067"/>
                  </a:lnTo>
                  <a:lnTo>
                    <a:pt x="36154" y="2172067"/>
                  </a:lnTo>
                  <a:lnTo>
                    <a:pt x="13809" y="2065529"/>
                  </a:lnTo>
                  <a:cubicBezTo>
                    <a:pt x="4803" y="2002533"/>
                    <a:pt x="0" y="1938616"/>
                    <a:pt x="0" y="1873933"/>
                  </a:cubicBezTo>
                  <a:cubicBezTo>
                    <a:pt x="0" y="839004"/>
                    <a:pt x="1229573" y="0"/>
                    <a:pt x="1229573" y="0"/>
                  </a:cubicBezTo>
                  <a:close/>
                </a:path>
              </a:pathLst>
            </a:custGeom>
            <a:solidFill>
              <a:schemeClr val="accent1">
                <a:lumMod val="75000"/>
                <a:alpha val="65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3" name="Texture">
            <a:extLst>
              <a:ext uri="{FF2B5EF4-FFF2-40B4-BE49-F238E27FC236}">
                <a16:creationId xmlns:a16="http://schemas.microsoft.com/office/drawing/2014/main" id="{8D0A9E5D-746B-3A35-4371-87021FA4576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BDBC339-C8B2-DEE2-7BFB-3475FB73F8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626" y="1680256"/>
            <a:ext cx="11657369" cy="5677407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ru-RU" sz="2400" dirty="0">
              <a:latin typeface="Verdana" panose="020B0604030504040204" pitchFamily="34" charset="0"/>
              <a:ea typeface="Verdana" panose="020B0604030504040204" pitchFamily="34" charset="0"/>
              <a:cs typeface="+mn-lt"/>
            </a:endParaRPr>
          </a:p>
          <a:p>
            <a:r>
              <a:rPr lang="en-GB" sz="2400" dirty="0">
                <a:latin typeface="Verdana"/>
                <a:ea typeface="+mn-lt"/>
                <a:cs typeface="+mn-lt"/>
              </a:rPr>
              <a:t>3. </a:t>
            </a:r>
            <a:r>
              <a:rPr lang="en-GB" sz="2400" dirty="0" err="1">
                <a:latin typeface="Verdana"/>
                <a:ea typeface="+mn-lt"/>
                <a:cs typeface="+mn-lt"/>
              </a:rPr>
              <a:t>attēls</a:t>
            </a:r>
            <a:r>
              <a:rPr lang="en-GB" sz="2400" dirty="0">
                <a:latin typeface="Verdana"/>
                <a:ea typeface="+mn-lt"/>
                <a:cs typeface="+mn-lt"/>
              </a:rPr>
              <a:t>:</a:t>
            </a:r>
            <a:r>
              <a:rPr lang="ru-RU" sz="2400" dirty="0">
                <a:latin typeface="Verdana"/>
                <a:ea typeface="+mn-lt"/>
                <a:cs typeface="+mn-lt"/>
              </a:rPr>
              <a:t> Encrypted [Skatīts 01.05.2026] - https://encrypted-tbn1.gstatic.com/images?q=tbn:ANd9GcRLMqGq_DBqXhGYH86qK_mDntenorDr9rsNGEGrQX09_ReN30kz </a:t>
            </a:r>
          </a:p>
          <a:p>
            <a:r>
              <a:rPr lang="en-GB" sz="2400" dirty="0">
                <a:latin typeface="Verdana"/>
                <a:ea typeface="Verdana"/>
                <a:cs typeface="+mn-lt"/>
              </a:rPr>
              <a:t>4. </a:t>
            </a:r>
            <a:r>
              <a:rPr lang="en-GB" sz="2400" dirty="0" err="1">
                <a:latin typeface="Verdana"/>
                <a:ea typeface="Verdana"/>
                <a:cs typeface="+mn-lt"/>
              </a:rPr>
              <a:t>attēls</a:t>
            </a:r>
            <a:r>
              <a:rPr lang="en-GB" sz="2400" dirty="0">
                <a:latin typeface="Verdana"/>
                <a:ea typeface="Verdana"/>
                <a:cs typeface="+mn-lt"/>
              </a:rPr>
              <a:t>:</a:t>
            </a:r>
            <a:r>
              <a:rPr lang="ru-RU" sz="2400" dirty="0">
                <a:latin typeface="Verdana"/>
                <a:ea typeface="Verdana"/>
                <a:cs typeface="+mn-lt"/>
              </a:rPr>
              <a:t> Dmlab [Skatīts 26.04.2026] - https://dmlab.edu.gr/portfolio/web-technologies-applications/</a:t>
            </a:r>
            <a:endParaRPr lang="ru-RU" sz="2400" dirty="0">
              <a:latin typeface="Gill Sans Nova"/>
              <a:ea typeface="Verdana"/>
              <a:cs typeface="+mn-lt"/>
            </a:endParaRPr>
          </a:p>
          <a:p>
            <a:r>
              <a:rPr lang="ru-RU" sz="2400" dirty="0" err="1" smtClean="0">
                <a:latin typeface="Verdana"/>
                <a:ea typeface="Verdana"/>
                <a:cs typeface="+mn-lt"/>
              </a:rPr>
              <a:t>Daniils</a:t>
            </a:r>
            <a:r>
              <a:rPr lang="ru-RU" sz="2400" dirty="0" smtClean="0">
                <a:latin typeface="Verdana"/>
                <a:ea typeface="Verdana"/>
                <a:cs typeface="+mn-lt"/>
              </a:rPr>
              <a:t> </a:t>
            </a:r>
            <a:r>
              <a:rPr lang="ru-RU" sz="2400" dirty="0" err="1">
                <a:latin typeface="Verdana"/>
                <a:ea typeface="Verdana"/>
                <a:cs typeface="+mn-lt"/>
              </a:rPr>
              <a:t>Onufrijuks</a:t>
            </a:r>
            <a:r>
              <a:rPr lang="ru-RU" sz="2400" dirty="0">
                <a:latin typeface="Verdana"/>
                <a:ea typeface="Verdana"/>
                <a:cs typeface="+mn-lt"/>
              </a:rPr>
              <a:t>. </a:t>
            </a:r>
            <a:r>
              <a:rPr lang="ru-RU" sz="2400" i="1" dirty="0" err="1">
                <a:latin typeface="Verdana"/>
                <a:ea typeface="Verdana"/>
                <a:cs typeface="+mn-lt"/>
              </a:rPr>
              <a:t>Kvalifikācijas</a:t>
            </a:r>
            <a:r>
              <a:rPr lang="ru-RU" sz="2400" i="1" dirty="0">
                <a:latin typeface="Verdana"/>
                <a:ea typeface="Verdana"/>
                <a:cs typeface="+mn-lt"/>
              </a:rPr>
              <a:t> </a:t>
            </a:r>
            <a:r>
              <a:rPr lang="ru-RU" sz="2400" i="1" dirty="0" err="1">
                <a:latin typeface="Verdana"/>
                <a:ea typeface="Verdana"/>
                <a:cs typeface="+mn-lt"/>
              </a:rPr>
              <a:t>projekta</a:t>
            </a:r>
            <a:r>
              <a:rPr lang="ru-RU" sz="2400" i="1" dirty="0">
                <a:latin typeface="Verdana"/>
                <a:ea typeface="Verdana"/>
                <a:cs typeface="+mn-lt"/>
              </a:rPr>
              <a:t> </a:t>
            </a:r>
            <a:r>
              <a:rPr lang="ru-RU" sz="2400" i="1" dirty="0" err="1">
                <a:latin typeface="Verdana"/>
                <a:ea typeface="Verdana"/>
                <a:cs typeface="+mn-lt"/>
              </a:rPr>
              <a:t>dokumentācija</a:t>
            </a:r>
            <a:r>
              <a:rPr lang="ru-RU" sz="2400" dirty="0">
                <a:latin typeface="Verdana"/>
                <a:ea typeface="Verdana"/>
                <a:cs typeface="+mn-lt"/>
              </a:rPr>
              <a:t>. 2026. [</a:t>
            </a:r>
            <a:r>
              <a:rPr lang="ru-RU" sz="2400" dirty="0" err="1">
                <a:latin typeface="Verdana"/>
                <a:ea typeface="Verdana"/>
                <a:cs typeface="+mn-lt"/>
              </a:rPr>
              <a:t>Skatīts</a:t>
            </a:r>
            <a:r>
              <a:rPr lang="ru-RU" sz="2400" dirty="0">
                <a:latin typeface="Verdana"/>
                <a:ea typeface="Verdana"/>
                <a:cs typeface="+mn-lt"/>
              </a:rPr>
              <a:t> 25.04.2026].</a:t>
            </a:r>
            <a:endParaRPr lang="ru-RU" sz="2400" b="1" dirty="0">
              <a:latin typeface="Verdana"/>
              <a:ea typeface="Verdana"/>
              <a:cs typeface="+mn-lt"/>
            </a:endParaRP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87D557FB-6669-50A6-A014-F036A8956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727" y="599153"/>
            <a:ext cx="9901165" cy="1078961"/>
          </a:xfrm>
        </p:spPr>
        <p:txBody>
          <a:bodyPr>
            <a:noAutofit/>
          </a:bodyPr>
          <a:lstStyle/>
          <a:p>
            <a:pPr algn="ctr"/>
            <a:r>
              <a:rPr lang="ru-RU" b="1" dirty="0" err="1">
                <a:latin typeface="Verdana" panose="020B0604030504040204" pitchFamily="34" charset="0"/>
                <a:ea typeface="Verdana" panose="020B0604030504040204" pitchFamily="34" charset="0"/>
                <a:cs typeface="+mj-lt"/>
              </a:rPr>
              <a:t>Izmantoto</a:t>
            </a:r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  <a:cs typeface="+mj-lt"/>
              </a:rPr>
              <a:t> </a:t>
            </a:r>
            <a:r>
              <a:rPr lang="ru-RU" b="1" dirty="0" err="1">
                <a:latin typeface="Verdana" panose="020B0604030504040204" pitchFamily="34" charset="0"/>
                <a:ea typeface="Verdana" panose="020B0604030504040204" pitchFamily="34" charset="0"/>
                <a:cs typeface="+mj-lt"/>
              </a:rPr>
              <a:t>literatūru</a:t>
            </a:r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  <a:cs typeface="+mj-lt"/>
              </a:rPr>
              <a:t> </a:t>
            </a:r>
            <a:r>
              <a:rPr lang="ru-RU" b="1" dirty="0" err="1">
                <a:latin typeface="Verdana" panose="020B0604030504040204" pitchFamily="34" charset="0"/>
                <a:ea typeface="Verdana" panose="020B0604030504040204" pitchFamily="34" charset="0"/>
                <a:cs typeface="+mj-lt"/>
              </a:rPr>
              <a:t>un</a:t>
            </a:r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  <a:cs typeface="+mj-lt"/>
              </a:rPr>
              <a:t> </a:t>
            </a:r>
            <a:r>
              <a:rPr lang="ru-RU" b="1" dirty="0" err="1">
                <a:latin typeface="Verdana" panose="020B0604030504040204" pitchFamily="34" charset="0"/>
                <a:ea typeface="Verdana" panose="020B0604030504040204" pitchFamily="34" charset="0"/>
                <a:cs typeface="+mj-lt"/>
              </a:rPr>
              <a:t>avotu</a:t>
            </a:r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  <a:cs typeface="+mj-lt"/>
              </a:rPr>
              <a:t> </a:t>
            </a:r>
            <a:r>
              <a:rPr lang="ru-RU" b="1" dirty="0" err="1">
                <a:latin typeface="Verdana" panose="020B0604030504040204" pitchFamily="34" charset="0"/>
                <a:ea typeface="Verdana" panose="020B0604030504040204" pitchFamily="34" charset="0"/>
                <a:cs typeface="+mj-lt"/>
              </a:rPr>
              <a:t>saraksts</a:t>
            </a:r>
            <a:endParaRPr lang="ru-RU" b="1" dirty="0" err="1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96774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9">
            <a:extLst>
              <a:ext uri="{FF2B5EF4-FFF2-40B4-BE49-F238E27FC236}">
                <a16:creationId xmlns:a16="http://schemas.microsoft.com/office/drawing/2014/main" id="{0F358BAA-9C8A-4E17-BAD8-32FD6FFEA73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38" name="Color Fill">
            <a:extLst>
              <a:ext uri="{FF2B5EF4-FFF2-40B4-BE49-F238E27FC236}">
                <a16:creationId xmlns:a16="http://schemas.microsoft.com/office/drawing/2014/main" id="{4D6F41A4-BEE3-4935-9371-4ADEA67A22F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39" name="Group 43">
            <a:extLst>
              <a:ext uri="{FF2B5EF4-FFF2-40B4-BE49-F238E27FC236}">
                <a16:creationId xmlns:a16="http://schemas.microsoft.com/office/drawing/2014/main" id="{7726F010-956A-40BC-8A1F-8002DC729B4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351566" y="0"/>
            <a:ext cx="3840434" cy="6858000"/>
            <a:chOff x="8351565" y="0"/>
            <a:chExt cx="3840434" cy="6858000"/>
          </a:xfrm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D386E468-0048-46C4-ADDD-FBE7A6AE9F3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260165" y="519204"/>
              <a:ext cx="474635" cy="47463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C5B35ED4-0C31-4C8C-A45E-6A3EDEAB286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85871" y="0"/>
              <a:ext cx="2955657" cy="679194"/>
            </a:xfrm>
            <a:custGeom>
              <a:avLst/>
              <a:gdLst>
                <a:gd name="connsiteX0" fmla="*/ 0 w 2955657"/>
                <a:gd name="connsiteY0" fmla="*/ 0 h 679194"/>
                <a:gd name="connsiteX1" fmla="*/ 2955657 w 2955657"/>
                <a:gd name="connsiteY1" fmla="*/ 0 h 679194"/>
                <a:gd name="connsiteX2" fmla="*/ 2892839 w 2955657"/>
                <a:gd name="connsiteY2" fmla="*/ 84007 h 679194"/>
                <a:gd name="connsiteX3" fmla="*/ 1630760 w 2955657"/>
                <a:gd name="connsiteY3" fmla="*/ 679194 h 679194"/>
                <a:gd name="connsiteX4" fmla="*/ 0 w 2955657"/>
                <a:gd name="connsiteY4" fmla="*/ 679194 h 679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55657" h="679194">
                  <a:moveTo>
                    <a:pt x="0" y="0"/>
                  </a:moveTo>
                  <a:lnTo>
                    <a:pt x="2955657" y="0"/>
                  </a:lnTo>
                  <a:lnTo>
                    <a:pt x="2892839" y="84007"/>
                  </a:lnTo>
                  <a:cubicBezTo>
                    <a:pt x="2592855" y="447504"/>
                    <a:pt x="2138868" y="679194"/>
                    <a:pt x="1630760" y="679194"/>
                  </a:cubicBezTo>
                  <a:lnTo>
                    <a:pt x="0" y="679194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B40A1EF3-FA93-48F4-9F82-BC0C7963575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51565" y="4121414"/>
              <a:ext cx="3266317" cy="2736586"/>
            </a:xfrm>
            <a:custGeom>
              <a:avLst/>
              <a:gdLst>
                <a:gd name="connsiteX0" fmla="*/ 1635557 w 3266317"/>
                <a:gd name="connsiteY0" fmla="*/ 0 h 2736586"/>
                <a:gd name="connsiteX1" fmla="*/ 3266317 w 3266317"/>
                <a:gd name="connsiteY1" fmla="*/ 0 h 2736586"/>
                <a:gd name="connsiteX2" fmla="*/ 3266317 w 3266317"/>
                <a:gd name="connsiteY2" fmla="*/ 1630760 h 2736586"/>
                <a:gd name="connsiteX3" fmla="*/ 2892838 w 3266317"/>
                <a:gd name="connsiteY3" fmla="*/ 2671131 h 2736586"/>
                <a:gd name="connsiteX4" fmla="*/ 2833348 w 3266317"/>
                <a:gd name="connsiteY4" fmla="*/ 2736586 h 2736586"/>
                <a:gd name="connsiteX5" fmla="*/ 0 w 3266317"/>
                <a:gd name="connsiteY5" fmla="*/ 2736586 h 2736586"/>
                <a:gd name="connsiteX6" fmla="*/ 0 w 3266317"/>
                <a:gd name="connsiteY6" fmla="*/ 1635558 h 2736586"/>
                <a:gd name="connsiteX7" fmla="*/ 1635557 w 3266317"/>
                <a:gd name="connsiteY7" fmla="*/ 0 h 2736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66317" h="2736586">
                  <a:moveTo>
                    <a:pt x="1635557" y="0"/>
                  </a:moveTo>
                  <a:lnTo>
                    <a:pt x="3266317" y="0"/>
                  </a:lnTo>
                  <a:lnTo>
                    <a:pt x="3266317" y="1630760"/>
                  </a:lnTo>
                  <a:cubicBezTo>
                    <a:pt x="3266317" y="2025955"/>
                    <a:pt x="3126159" y="2388411"/>
                    <a:pt x="2892838" y="2671131"/>
                  </a:cubicBezTo>
                  <a:lnTo>
                    <a:pt x="2833348" y="2736586"/>
                  </a:lnTo>
                  <a:lnTo>
                    <a:pt x="0" y="2736586"/>
                  </a:lnTo>
                  <a:lnTo>
                    <a:pt x="0" y="1635558"/>
                  </a:lnTo>
                  <a:cubicBezTo>
                    <a:pt x="0" y="732255"/>
                    <a:pt x="732254" y="0"/>
                    <a:pt x="1635557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A985F09D-6969-44D0-B04F-4EDE0FEDAF6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755674" y="3386384"/>
              <a:ext cx="436325" cy="1309674"/>
            </a:xfrm>
            <a:custGeom>
              <a:avLst/>
              <a:gdLst>
                <a:gd name="connsiteX0" fmla="*/ 470325 w 477612"/>
                <a:gd name="connsiteY0" fmla="*/ 0 h 1433600"/>
                <a:gd name="connsiteX1" fmla="*/ 475607 w 477612"/>
                <a:gd name="connsiteY1" fmla="*/ 3701 h 1433600"/>
                <a:gd name="connsiteX2" fmla="*/ 477612 w 477612"/>
                <a:gd name="connsiteY2" fmla="*/ 5160 h 1433600"/>
                <a:gd name="connsiteX3" fmla="*/ 477612 w 477612"/>
                <a:gd name="connsiteY3" fmla="*/ 1428441 h 1433600"/>
                <a:gd name="connsiteX4" fmla="*/ 475607 w 477612"/>
                <a:gd name="connsiteY4" fmla="*/ 1429900 h 1433600"/>
                <a:gd name="connsiteX5" fmla="*/ 470325 w 477612"/>
                <a:gd name="connsiteY5" fmla="*/ 1433600 h 1433600"/>
                <a:gd name="connsiteX6" fmla="*/ 0 w 477612"/>
                <a:gd name="connsiteY6" fmla="*/ 716800 h 1433600"/>
                <a:gd name="connsiteX7" fmla="*/ 470325 w 477612"/>
                <a:gd name="connsiteY7" fmla="*/ 0 h 143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77612" h="1433600">
                  <a:moveTo>
                    <a:pt x="470325" y="0"/>
                  </a:moveTo>
                  <a:cubicBezTo>
                    <a:pt x="470325" y="0"/>
                    <a:pt x="472162" y="1254"/>
                    <a:pt x="475607" y="3701"/>
                  </a:cubicBezTo>
                  <a:lnTo>
                    <a:pt x="477612" y="5160"/>
                  </a:lnTo>
                  <a:lnTo>
                    <a:pt x="477612" y="1428441"/>
                  </a:lnTo>
                  <a:lnTo>
                    <a:pt x="475607" y="1429900"/>
                  </a:lnTo>
                  <a:cubicBezTo>
                    <a:pt x="472162" y="1432347"/>
                    <a:pt x="470325" y="1433600"/>
                    <a:pt x="470325" y="1433600"/>
                  </a:cubicBezTo>
                  <a:cubicBezTo>
                    <a:pt x="470325" y="1433600"/>
                    <a:pt x="0" y="1112672"/>
                    <a:pt x="0" y="716800"/>
                  </a:cubicBezTo>
                  <a:cubicBezTo>
                    <a:pt x="0" y="320929"/>
                    <a:pt x="470325" y="0"/>
                    <a:pt x="470325" y="0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20000"/>
                  <a:lumOff val="80000"/>
                </a:schemeClr>
              </a:fgClr>
              <a:bgClr>
                <a:schemeClr val="accent4">
                  <a:lumMod val="60000"/>
                  <a:lumOff val="40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dirty="0"/>
            </a:p>
          </p:txBody>
        </p:sp>
        <p:sp>
          <p:nvSpPr>
            <p:cNvPr id="49" name="Graphic 9">
              <a:extLst>
                <a:ext uri="{FF2B5EF4-FFF2-40B4-BE49-F238E27FC236}">
                  <a16:creationId xmlns:a16="http://schemas.microsoft.com/office/drawing/2014/main" id="{003913A0-A3C0-4ED8-8920-318068FBC46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85870" y="791588"/>
              <a:ext cx="3232012" cy="3232012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sp>
        <p:nvSpPr>
          <p:cNvPr id="41" name="Texture">
            <a:extLst>
              <a:ext uri="{FF2B5EF4-FFF2-40B4-BE49-F238E27FC236}">
                <a16:creationId xmlns:a16="http://schemas.microsoft.com/office/drawing/2014/main" id="{7FE1D329-7CB2-4DF5-B0C0-36DD19EBC66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 useBgFill="1">
        <p:nvSpPr>
          <p:cNvPr id="43" name="Background Fill">
            <a:extLst>
              <a:ext uri="{FF2B5EF4-FFF2-40B4-BE49-F238E27FC236}">
                <a16:creationId xmlns:a16="http://schemas.microsoft.com/office/drawing/2014/main" id="{A7971386-B2B0-4A38-8D3B-8CF23AAA610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50" name="Color Fill">
            <a:extLst>
              <a:ext uri="{FF2B5EF4-FFF2-40B4-BE49-F238E27FC236}">
                <a16:creationId xmlns:a16="http://schemas.microsoft.com/office/drawing/2014/main" id="{8BECD55C-E611-4BCD-B45E-BF01D623481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52" name="Group 56">
            <a:extLst>
              <a:ext uri="{FF2B5EF4-FFF2-40B4-BE49-F238E27FC236}">
                <a16:creationId xmlns:a16="http://schemas.microsoft.com/office/drawing/2014/main" id="{193327DE-AF96-4552-944C-F5FB663CD0D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992168" y="-1"/>
            <a:ext cx="4782385" cy="4928295"/>
            <a:chOff x="6992168" y="-1"/>
            <a:chExt cx="4782385" cy="4928295"/>
          </a:xfrm>
        </p:grpSpPr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487A98A1-D478-4890-9CAB-83521D6C796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66507" y="453951"/>
              <a:ext cx="608046" cy="608046"/>
            </a:xfrm>
            <a:prstGeom prst="ellipse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E76BB555-B9B3-4F0E-8005-2D40CC16BF4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264751" y="0"/>
              <a:ext cx="3721476" cy="1682047"/>
            </a:xfrm>
            <a:custGeom>
              <a:avLst/>
              <a:gdLst>
                <a:gd name="connsiteX0" fmla="*/ 0 w 3721476"/>
                <a:gd name="connsiteY0" fmla="*/ 0 h 1682047"/>
                <a:gd name="connsiteX1" fmla="*/ 3721476 w 3721476"/>
                <a:gd name="connsiteY1" fmla="*/ 0 h 1682047"/>
                <a:gd name="connsiteX2" fmla="*/ 3721230 w 3721476"/>
                <a:gd name="connsiteY2" fmla="*/ 4881 h 1682047"/>
                <a:gd name="connsiteX3" fmla="*/ 1862697 w 3721476"/>
                <a:gd name="connsiteY3" fmla="*/ 1682047 h 1682047"/>
                <a:gd name="connsiteX4" fmla="*/ 0 w 3721476"/>
                <a:gd name="connsiteY4" fmla="*/ 1682047 h 1682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21476" h="1682047">
                  <a:moveTo>
                    <a:pt x="0" y="0"/>
                  </a:moveTo>
                  <a:lnTo>
                    <a:pt x="3721476" y="0"/>
                  </a:lnTo>
                  <a:lnTo>
                    <a:pt x="3721230" y="4881"/>
                  </a:lnTo>
                  <a:cubicBezTo>
                    <a:pt x="3625562" y="946929"/>
                    <a:pt x="2829989" y="1682047"/>
                    <a:pt x="1862697" y="1682047"/>
                  </a:cubicBezTo>
                  <a:lnTo>
                    <a:pt x="0" y="1682047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C282DB48-F1F9-487D-8AC3-94C762AFD2F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19737" y="-1"/>
              <a:ext cx="3443554" cy="1516699"/>
            </a:xfrm>
            <a:custGeom>
              <a:avLst/>
              <a:gdLst>
                <a:gd name="connsiteX0" fmla="*/ 0 w 2872279"/>
                <a:gd name="connsiteY0" fmla="*/ 0 h 1183937"/>
                <a:gd name="connsiteX1" fmla="*/ 2872279 w 2872279"/>
                <a:gd name="connsiteY1" fmla="*/ 0 h 1183937"/>
                <a:gd name="connsiteX2" fmla="*/ 2868418 w 2872279"/>
                <a:gd name="connsiteY2" fmla="*/ 25304 h 1183937"/>
                <a:gd name="connsiteX3" fmla="*/ 1446821 w 2872279"/>
                <a:gd name="connsiteY3" fmla="*/ 1183937 h 1183937"/>
                <a:gd name="connsiteX4" fmla="*/ 0 w 2872279"/>
                <a:gd name="connsiteY4" fmla="*/ 1183937 h 1183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72279" h="1183937">
                  <a:moveTo>
                    <a:pt x="0" y="0"/>
                  </a:moveTo>
                  <a:lnTo>
                    <a:pt x="2872279" y="0"/>
                  </a:lnTo>
                  <a:lnTo>
                    <a:pt x="2868418" y="25304"/>
                  </a:lnTo>
                  <a:cubicBezTo>
                    <a:pt x="2733112" y="686540"/>
                    <a:pt x="2148060" y="1183937"/>
                    <a:pt x="1446821" y="1183937"/>
                  </a:cubicBezTo>
                  <a:lnTo>
                    <a:pt x="0" y="1183937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B930DAE9-1ABF-4097-906C-3946FCEEC99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92168" y="4672162"/>
              <a:ext cx="256132" cy="256132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4" name="Texture">
            <a:extLst>
              <a:ext uri="{FF2B5EF4-FFF2-40B4-BE49-F238E27FC236}">
                <a16:creationId xmlns:a16="http://schemas.microsoft.com/office/drawing/2014/main" id="{0D29D77D-2D4E-4868-960B-BEDA724F5CE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FF9536-C61E-78CA-F279-0012ED28C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355" y="1045749"/>
            <a:ext cx="6146193" cy="306324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 b="1" dirty="0" err="1">
                <a:latin typeface="Verdana"/>
                <a:ea typeface="Verdana"/>
              </a:rPr>
              <a:t>Paldies</a:t>
            </a:r>
            <a:r>
              <a:rPr lang="en-US" sz="6000" b="1" dirty="0">
                <a:latin typeface="Verdana"/>
                <a:ea typeface="Verdana"/>
              </a:rPr>
              <a:t> par </a:t>
            </a:r>
            <a:r>
              <a:rPr lang="en-US" sz="6000" b="1" dirty="0" err="1">
                <a:latin typeface="Verdana"/>
                <a:ea typeface="Verdana"/>
              </a:rPr>
              <a:t>uzmanību</a:t>
            </a:r>
            <a:r>
              <a:rPr lang="en-US" sz="6000" b="1" dirty="0">
                <a:latin typeface="Verdana"/>
                <a:ea typeface="Verdana"/>
              </a:rPr>
              <a:t>!</a:t>
            </a:r>
          </a:p>
        </p:txBody>
      </p:sp>
      <p:pic>
        <p:nvPicPr>
          <p:cNvPr id="5" name="Рисунок 4" descr="Contain vs. Retain: How much information should you put into a presentation?">
            <a:extLst>
              <a:ext uri="{FF2B5EF4-FFF2-40B4-BE49-F238E27FC236}">
                <a16:creationId xmlns:a16="http://schemas.microsoft.com/office/drawing/2014/main" id="{869E3E11-BCDF-7719-4CA1-8843F084F43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576" r="32174" b="1"/>
          <a:stretch/>
        </p:blipFill>
        <p:spPr>
          <a:xfrm>
            <a:off x="7337620" y="2006669"/>
            <a:ext cx="4851332" cy="4851331"/>
          </a:xfrm>
          <a:custGeom>
            <a:avLst/>
            <a:gdLst/>
            <a:ahLst/>
            <a:cxnLst/>
            <a:rect l="l" t="t" r="r" b="b"/>
            <a:pathLst>
              <a:path w="3646992" h="3646991">
                <a:moveTo>
                  <a:pt x="0" y="0"/>
                </a:moveTo>
                <a:lnTo>
                  <a:pt x="1820818" y="0"/>
                </a:lnTo>
                <a:cubicBezTo>
                  <a:pt x="2829397" y="0"/>
                  <a:pt x="3646992" y="817595"/>
                  <a:pt x="3646992" y="1826174"/>
                </a:cubicBezTo>
                <a:lnTo>
                  <a:pt x="3646992" y="3646991"/>
                </a:lnTo>
                <a:lnTo>
                  <a:pt x="1826174" y="3646991"/>
                </a:lnTo>
                <a:cubicBezTo>
                  <a:pt x="817595" y="3646991"/>
                  <a:pt x="0" y="2829396"/>
                  <a:pt x="0" y="1820817"/>
                </a:cubicBezTo>
                <a:close/>
              </a:path>
            </a:pathLst>
          </a:cu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2C7015D-48E9-7F9C-97CC-CB0E813D18EA}"/>
              </a:ext>
            </a:extLst>
          </p:cNvPr>
          <p:cNvSpPr txBox="1"/>
          <p:nvPr/>
        </p:nvSpPr>
        <p:spPr>
          <a:xfrm>
            <a:off x="561257" y="6160949"/>
            <a:ext cx="4268364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dirty="0" err="1">
                <a:latin typeface="Verdana"/>
                <a:ea typeface="Verdana"/>
              </a:rPr>
              <a:t>Gstatic</a:t>
            </a:r>
            <a:r>
              <a:rPr lang="en-US" sz="1000" dirty="0">
                <a:latin typeface="Verdana"/>
                <a:ea typeface="Verdana"/>
              </a:rPr>
              <a:t> </a:t>
            </a:r>
            <a:r>
              <a:rPr lang="ru-RU" sz="1000" dirty="0">
                <a:latin typeface="Gill Sans Nova"/>
                <a:ea typeface="Verdana"/>
              </a:rPr>
              <a:t>[Skatīts 26.04.2026] </a:t>
            </a:r>
            <a:r>
              <a:rPr lang="en-US" sz="1000" dirty="0">
                <a:latin typeface="Verdana"/>
                <a:ea typeface="Verdana"/>
              </a:rPr>
              <a:t>https://encrypted-tbn1.gstatic.com/images?q=tbn:ANd9GcRV-gNpT7VhIOllW9XlL9MBafwzIXhUsDulNj_t-EpAZif_9PwL</a:t>
            </a:r>
          </a:p>
        </p:txBody>
      </p:sp>
    </p:spTree>
    <p:extLst>
      <p:ext uri="{BB962C8B-B14F-4D97-AF65-F5344CB8AC3E}">
        <p14:creationId xmlns:p14="http://schemas.microsoft.com/office/powerpoint/2010/main" val="2307454994"/>
      </p:ext>
    </p:extLst>
  </p:cSld>
  <p:clrMapOvr>
    <a:masterClrMapping/>
  </p:clrMapOvr>
</p:sld>
</file>

<file path=ppt/theme/theme1.xml><?xml version="1.0" encoding="utf-8"?>
<a:theme xmlns:a="http://schemas.openxmlformats.org/drawingml/2006/main" name="TropicVTI">
  <a:themeElements>
    <a:clrScheme name="AnalogousFromRegularSeedRightStep">
      <a:dk1>
        <a:srgbClr val="000000"/>
      </a:dk1>
      <a:lt1>
        <a:srgbClr val="FFFFFF"/>
      </a:lt1>
      <a:dk2>
        <a:srgbClr val="1B2830"/>
      </a:dk2>
      <a:lt2>
        <a:srgbClr val="F3F0F2"/>
      </a:lt2>
      <a:accent1>
        <a:srgbClr val="46B381"/>
      </a:accent1>
      <a:accent2>
        <a:srgbClr val="3BB1AC"/>
      </a:accent2>
      <a:accent3>
        <a:srgbClr val="4D97C3"/>
      </a:accent3>
      <a:accent4>
        <a:srgbClr val="3B53B1"/>
      </a:accent4>
      <a:accent5>
        <a:srgbClr val="654DC3"/>
      </a:accent5>
      <a:accent6>
        <a:srgbClr val="853BB1"/>
      </a:accent6>
      <a:hlink>
        <a:srgbClr val="BF417B"/>
      </a:hlink>
      <a:folHlink>
        <a:srgbClr val="7F7F7F"/>
      </a:folHlink>
    </a:clrScheme>
    <a:fontScheme name="Tropic">
      <a:majorFont>
        <a:latin typeface="Gill Sans Nova"/>
        <a:ea typeface=""/>
        <a:cs typeface=""/>
      </a:majorFont>
      <a:minorFont>
        <a:latin typeface="Gill Sans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ropicVTI" id="{DE8751F2-0439-4D1D-A674-AFC241C9701D}" vid="{C41D9140-98E0-4A26-97C4-97FDCB8D6E0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</TotalTime>
  <Words>315</Words>
  <Application>Microsoft Office PowerPoint</Application>
  <PresentationFormat>Широкоэкранный</PresentationFormat>
  <Paragraphs>67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1" baseType="lpstr">
      <vt:lpstr>Arial</vt:lpstr>
      <vt:lpstr>Gill Sans Nova</vt:lpstr>
      <vt:lpstr>Segoe UI</vt:lpstr>
      <vt:lpstr>Times New Roman</vt:lpstr>
      <vt:lpstr>Verdana</vt:lpstr>
      <vt:lpstr>TropicVTI</vt:lpstr>
      <vt:lpstr>Tīmekļa vietne datoru un komponentu tirdzniecībā</vt:lpstr>
      <vt:lpstr>Презентация PowerPoint</vt:lpstr>
      <vt:lpstr>Uzdevuma nostādne</vt:lpstr>
      <vt:lpstr>Izmantotās tehnoloģijas</vt:lpstr>
      <vt:lpstr>Funkcionālās dekompozīcijas diagramma</vt:lpstr>
      <vt:lpstr>ER diagramma</vt:lpstr>
      <vt:lpstr>Презентация PowerPoint</vt:lpstr>
      <vt:lpstr>Datu plūsmas diagramma </vt:lpstr>
      <vt:lpstr>Презентация PowerPoint</vt:lpstr>
      <vt:lpstr>Tabulu saišu shēma</vt:lpstr>
      <vt:lpstr>Презентация PowerPoint</vt:lpstr>
      <vt:lpstr>Programmas galvenā loga attēls</vt:lpstr>
      <vt:lpstr>Izmantoto literatūru un avotu saraksts</vt:lpstr>
      <vt:lpstr>Izmantoto literatūru un avotu saraksts</vt:lpstr>
      <vt:lpstr>Paldies par uzmanību!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COMTEM</dc:title>
  <dc:creator/>
  <cp:lastModifiedBy>Dan</cp:lastModifiedBy>
  <cp:revision>1296</cp:revision>
  <dcterms:created xsi:type="dcterms:W3CDTF">2024-12-01T10:18:32Z</dcterms:created>
  <dcterms:modified xsi:type="dcterms:W3CDTF">2026-05-18T06:49:07Z</dcterms:modified>
</cp:coreProperties>
</file>