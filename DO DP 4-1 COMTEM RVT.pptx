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0" r:id="rId3"/>
    <p:sldId id="257" r:id="rId4"/>
    <p:sldId id="261" r:id="rId5"/>
    <p:sldId id="268" r:id="rId6"/>
    <p:sldId id="285" r:id="rId7"/>
    <p:sldId id="275" r:id="rId8"/>
    <p:sldId id="281" r:id="rId9"/>
    <p:sldId id="284" r:id="rId10"/>
    <p:sldId id="282" r:id="rId11"/>
    <p:sldId id="283" r:id="rId12"/>
    <p:sldId id="278" r:id="rId13"/>
    <p:sldId id="259" r:id="rId14"/>
    <p:sldId id="280" r:id="rId15"/>
    <p:sldId id="25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A27AF5-3909-5AB8-CB3C-6A9BF841F2AC}" v="106" dt="2026-04-26T11:08:11.991"/>
    <p1510:client id="{8F329DAB-D13C-E7E1-2C4A-287E1405B6D8}" v="3" dt="2026-04-26T11:02:03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0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4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7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6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8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8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9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7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5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6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4316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4E7F912C-F385-6316-E824-68680813D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3227" r="6" b="11550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4458" y="2036153"/>
            <a:ext cx="9381978" cy="2539780"/>
          </a:xfrm>
        </p:spPr>
        <p:txBody>
          <a:bodyPr>
            <a:normAutofit/>
          </a:bodyPr>
          <a:lstStyle/>
          <a:p>
            <a:r>
              <a:rPr lang="ru-RU" sz="5000" dirty="0">
                <a:solidFill>
                  <a:srgbClr val="FFFFFF"/>
                </a:solidFill>
                <a:latin typeface="Verdana"/>
                <a:ea typeface="+mj-lt"/>
                <a:cs typeface="Arial"/>
              </a:rPr>
              <a:t>Tīmekļa vietne</a:t>
            </a:r>
            <a:r>
              <a:rPr lang="ru-RU" sz="5000" dirty="0">
                <a:solidFill>
                  <a:srgbClr val="FFFFFF"/>
                </a:solidFill>
                <a:latin typeface="Verdana"/>
                <a:ea typeface="+mj-lt"/>
                <a:cs typeface="+mj-lt"/>
              </a:rPr>
              <a:t> datoru un komponentu tirdzniecīb</a:t>
            </a:r>
            <a:r>
              <a:rPr lang="en-GB" sz="5000" dirty="0">
                <a:solidFill>
                  <a:srgbClr val="FFFFFF"/>
                </a:solidFill>
                <a:latin typeface="Verdana"/>
                <a:ea typeface="+mj-lt"/>
                <a:cs typeface="+mj-lt"/>
              </a:rPr>
              <a:t>ā</a:t>
            </a:r>
            <a:endParaRPr lang="ru-RU" sz="5000" dirty="0">
              <a:latin typeface="Verdana"/>
              <a:ea typeface="Verdana"/>
            </a:endParaRP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D4433877-8295-4A0D-94F7-BFD8A633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1FD208E-0612-408E-9D15-241B45325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0005FEAC-EF53-4E59-AFAA-B72D0F702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D9F4E7-B583-4E44-AE18-421B268FB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41D6DC-5CB2-4929-AAA8-328E7AA84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810D7DDE-644B-4D22-86B4-C3FEDF985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777DB78-76A6-4C7E-884B-AE5A8540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pic>
        <p:nvPicPr>
          <p:cNvPr id="4" name="Рисунок 3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914808A9-07F2-299B-A2CB-68B334CF7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2" y="264979"/>
            <a:ext cx="2184400" cy="2164080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Рисунок 4" descr="Vēsture un simbolika – RVT">
            <a:extLst>
              <a:ext uri="{FF2B5EF4-FFF2-40B4-BE49-F238E27FC236}">
                <a16:creationId xmlns:a16="http://schemas.microsoft.com/office/drawing/2014/main" id="{F960A10D-05E9-C3DB-CDAD-8BDE5C659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27" y="394975"/>
            <a:ext cx="1123167" cy="11031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518C91-AF93-46C1-12F2-28EF1C5F2C97}"/>
              </a:ext>
            </a:extLst>
          </p:cNvPr>
          <p:cNvSpPr txBox="1"/>
          <p:nvPr/>
        </p:nvSpPr>
        <p:spPr>
          <a:xfrm>
            <a:off x="233024" y="5105728"/>
            <a:ext cx="6294939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b="1" dirty="0">
                <a:latin typeface="Verdana"/>
                <a:cs typeface="Segoe UI"/>
              </a:rPr>
              <a:t>Daniils Onufrijuks</a:t>
            </a:r>
            <a:r>
              <a:rPr lang="ru-RU" sz="2000" dirty="0">
                <a:latin typeface="Verdana"/>
                <a:cs typeface="Segoe UI"/>
              </a:rPr>
              <a:t> </a:t>
            </a:r>
            <a:r>
              <a:rPr lang="en-US" sz="2000" dirty="0">
                <a:latin typeface="Verdana"/>
                <a:cs typeface="Segoe UI"/>
              </a:rPr>
              <a:t>​</a:t>
            </a:r>
            <a:endParaRPr lang="ru-RU" sz="2000" dirty="0">
              <a:latin typeface="Verdana"/>
              <a:ea typeface="Verdana"/>
            </a:endParaRPr>
          </a:p>
          <a:p>
            <a:r>
              <a:rPr lang="ru-RU" sz="2000" dirty="0">
                <a:latin typeface="Verdana"/>
                <a:cs typeface="Segoe UI"/>
              </a:rPr>
              <a:t>DP </a:t>
            </a:r>
            <a:r>
              <a:rPr lang="lv-LV" sz="2000" dirty="0">
                <a:latin typeface="Verdana"/>
                <a:cs typeface="Segoe UI"/>
              </a:rPr>
              <a:t>4</a:t>
            </a:r>
            <a:r>
              <a:rPr lang="ru-RU" sz="2000" dirty="0">
                <a:latin typeface="Verdana"/>
                <a:cs typeface="Segoe UI"/>
              </a:rPr>
              <a:t>-1</a:t>
            </a:r>
            <a:r>
              <a:rPr lang="en-US" sz="2000" dirty="0">
                <a:latin typeface="Verdana"/>
                <a:cs typeface="Segoe UI"/>
              </a:rPr>
              <a:t>​</a:t>
            </a:r>
            <a:endParaRPr lang="en-US" sz="2000" dirty="0">
              <a:latin typeface="Verdana"/>
              <a:ea typeface="Verdana"/>
              <a:cs typeface="Segoe UI"/>
            </a:endParaRPr>
          </a:p>
          <a:p>
            <a:r>
              <a:rPr lang="ru-RU" sz="2000" err="1">
                <a:latin typeface="Verdana"/>
                <a:cs typeface="Segoe UI"/>
              </a:rPr>
              <a:t>Rīgas</a:t>
            </a:r>
            <a:r>
              <a:rPr lang="ru-RU" sz="2000" dirty="0">
                <a:latin typeface="Verdana"/>
                <a:cs typeface="Segoe UI"/>
              </a:rPr>
              <a:t> </a:t>
            </a:r>
            <a:r>
              <a:rPr lang="ru-RU" sz="2000" err="1">
                <a:latin typeface="Verdana"/>
                <a:cs typeface="Segoe UI"/>
              </a:rPr>
              <a:t>Valsts</a:t>
            </a:r>
            <a:r>
              <a:rPr lang="ru-RU" sz="2000" dirty="0">
                <a:latin typeface="Verdana"/>
                <a:cs typeface="Segoe UI"/>
              </a:rPr>
              <a:t> </a:t>
            </a:r>
            <a:r>
              <a:rPr lang="ru-RU" sz="2000" err="1">
                <a:latin typeface="Verdana"/>
                <a:cs typeface="Segoe UI"/>
              </a:rPr>
              <a:t>Tehnikums</a:t>
            </a:r>
            <a:endParaRPr lang="ru-RU" sz="2000">
              <a:latin typeface="Verdana"/>
              <a:ea typeface="Verdana"/>
              <a:cs typeface="Segoe UI"/>
            </a:endParaRPr>
          </a:p>
          <a:p>
            <a:r>
              <a:rPr lang="ru-RU" sz="2000" err="1">
                <a:latin typeface="Verdana"/>
                <a:ea typeface="+mn-lt"/>
                <a:cs typeface="+mn-lt"/>
              </a:rPr>
              <a:t>Datorikas</a:t>
            </a:r>
            <a:r>
              <a:rPr lang="ru-RU" sz="2000" dirty="0">
                <a:latin typeface="Verdana"/>
                <a:ea typeface="+mn-lt"/>
                <a:cs typeface="+mn-lt"/>
              </a:rPr>
              <a:t> </a:t>
            </a:r>
            <a:r>
              <a:rPr lang="ru-RU" sz="2000" err="1">
                <a:latin typeface="Verdana"/>
                <a:ea typeface="+mn-lt"/>
                <a:cs typeface="+mn-lt"/>
              </a:rPr>
              <a:t>nodaļa</a:t>
            </a:r>
            <a:r>
              <a:rPr lang="ru-RU" sz="2000" dirty="0">
                <a:latin typeface="Verdana"/>
                <a:ea typeface="+mn-lt"/>
                <a:cs typeface="+mn-lt"/>
              </a:rPr>
              <a:t>, </a:t>
            </a:r>
            <a:r>
              <a:rPr lang="ru-RU" sz="2000" err="1">
                <a:latin typeface="Verdana"/>
                <a:ea typeface="+mn-lt"/>
                <a:cs typeface="+mn-lt"/>
              </a:rPr>
              <a:t>programmēšanas</a:t>
            </a:r>
            <a:r>
              <a:rPr lang="ru-RU" sz="2000" dirty="0">
                <a:latin typeface="Verdana"/>
                <a:ea typeface="+mn-lt"/>
                <a:cs typeface="+mn-lt"/>
              </a:rPr>
              <a:t> </a:t>
            </a:r>
            <a:r>
              <a:rPr lang="ru-RU" sz="2000" err="1">
                <a:latin typeface="Verdana"/>
                <a:ea typeface="+mn-lt"/>
                <a:cs typeface="+mn-lt"/>
              </a:rPr>
              <a:t>tehniķis</a:t>
            </a:r>
            <a:endParaRPr lang="ru-RU" sz="2000">
              <a:latin typeface="Verdana"/>
            </a:endParaRPr>
          </a:p>
          <a:p>
            <a:r>
              <a:rPr lang="ru-RU" sz="2000">
                <a:latin typeface="Verdana"/>
                <a:cs typeface="Segoe UI"/>
              </a:rPr>
              <a:t>20.04.202</a:t>
            </a:r>
            <a:r>
              <a:rPr lang="lv-LV" sz="2000" dirty="0">
                <a:latin typeface="Verdana"/>
                <a:cs typeface="Segoe UI"/>
              </a:rPr>
              <a:t>6</a:t>
            </a:r>
            <a:endParaRPr lang="ru-RU" sz="2000" dirty="0"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433459-AE08-C133-6129-357049545DFC}"/>
              </a:ext>
            </a:extLst>
          </p:cNvPr>
          <p:cNvSpPr txBox="1"/>
          <p:nvPr/>
        </p:nvSpPr>
        <p:spPr>
          <a:xfrm>
            <a:off x="10642330" y="1498242"/>
            <a:ext cx="119876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092941" y="643442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ru-RU" sz="1000" dirty="0">
                <a:latin typeface="Verdana"/>
                <a:ea typeface="+mn-lt"/>
                <a:cs typeface="+mn-lt"/>
              </a:rPr>
              <a:t>RVT https://www.rvt.lv/wp-content/uploads/2021/03/cropped-RVT-100-gadi-logo-e1616052812909.png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E0F166C3-D45F-4A92-A291-15B874AD1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BB4B8F-57A2-4546-9449-6DBBA6E7C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39089" y="-3532"/>
            <a:ext cx="4456394" cy="6861532"/>
            <a:chOff x="7739089" y="-3532"/>
            <a:chExt cx="4456394" cy="686153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31B59C-8450-4595-B395-B86BCB944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07984" y="4121414"/>
              <a:ext cx="514757" cy="5169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FF4BA6E-92B7-48A3-891F-FF1DE970A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4837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99F993-966A-49D6-952F-B95A79671A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9158" y="340461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tx2">
                  <a:lumMod val="75000"/>
                  <a:lumOff val="25000"/>
                </a:schemeClr>
              </a:fgClr>
              <a:bgClr>
                <a:schemeClr val="accent1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90B896C1-7BD8-4907-8561-4AAB7316D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39089" y="-3532"/>
              <a:ext cx="3875603" cy="3875603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tx2">
                <a:lumMod val="25000"/>
                <a:lumOff val="75000"/>
                <a:alpha val="20000"/>
              </a:schemeClr>
            </a:solidFill>
            <a:ln w="2095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9" name="Texture">
            <a:extLst>
              <a:ext uri="{FF2B5EF4-FFF2-40B4-BE49-F238E27FC236}">
                <a16:creationId xmlns:a16="http://schemas.microsoft.com/office/drawing/2014/main" id="{F34FFB17-4733-4A4C-9F36-CE82366CB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163B3C-419A-79F1-E327-6B306C88F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34" y="1160300"/>
            <a:ext cx="8570507" cy="49616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ru-RU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lv-LV" sz="2400" dirty="0">
                <a:latin typeface="Verdana"/>
                <a:ea typeface="Verdana"/>
              </a:rPr>
              <a:t>Uzdevuma Nostadne</a:t>
            </a:r>
          </a:p>
          <a:p>
            <a:pPr>
              <a:lnSpc>
                <a:spcPct val="100000"/>
              </a:lnSpc>
            </a:pPr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Izmantotās tehnoloģijas</a:t>
            </a: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Funkcionālā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dekompozīcija</a:t>
            </a:r>
            <a:endParaRPr lang="lv-LV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ER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diagramma</a:t>
            </a:r>
            <a:endParaRPr lang="ru-RU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Datu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plūsmas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diagramma</a:t>
            </a:r>
            <a:endParaRPr lang="lv-LV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Tabulu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saišu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shēma</a:t>
            </a:r>
            <a:endParaRPr lang="lv-LV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Programmas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galvenais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logs</a:t>
            </a:r>
            <a:endParaRPr lang="lv-LV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2400" dirty="0" err="1">
                <a:latin typeface="Verdana"/>
                <a:ea typeface="Verdana"/>
              </a:rPr>
              <a:t>Secinājumi</a:t>
            </a:r>
            <a:endParaRPr lang="ru-RU" sz="2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ru-RU" sz="2400" dirty="0" err="1">
                <a:latin typeface="Verdana"/>
                <a:ea typeface="Verdana"/>
              </a:rPr>
              <a:t>Avot</a:t>
            </a:r>
            <a:r>
              <a:rPr lang="lv-LV" sz="2400" dirty="0">
                <a:latin typeface="Verdana"/>
                <a:ea typeface="Verdana"/>
              </a:rPr>
              <a:t>i</a:t>
            </a:r>
            <a:endParaRPr lang="ru-RU" sz="2400" dirty="0">
              <a:latin typeface="Verdana"/>
              <a:ea typeface="Verdana"/>
            </a:endParaRPr>
          </a:p>
        </p:txBody>
      </p:sp>
      <p:pic>
        <p:nvPicPr>
          <p:cNvPr id="4" name="Рисунок 3" descr="Apzinātības kursa saturs – Apzinātības un miera prakse">
            <a:extLst>
              <a:ext uri="{FF2B5EF4-FFF2-40B4-BE49-F238E27FC236}">
                <a16:creationId xmlns:a16="http://schemas.microsoft.com/office/drawing/2014/main" id="{EE49F9DB-C2C5-9ED3-A8BB-19C1A2BEE6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96"/>
          <a:stretch/>
        </p:blipFill>
        <p:spPr>
          <a:xfrm>
            <a:off x="7918449" y="168275"/>
            <a:ext cx="3531759" cy="3531758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38D929-8384-B976-FFC3-97D7C76489BA}"/>
              </a:ext>
            </a:extLst>
          </p:cNvPr>
          <p:cNvSpPr txBox="1"/>
          <p:nvPr/>
        </p:nvSpPr>
        <p:spPr>
          <a:xfrm>
            <a:off x="10366513" y="3814916"/>
            <a:ext cx="10831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F35B83E-2A6C-4AFC-027F-CFA027BA20EC}"/>
              </a:ext>
            </a:extLst>
          </p:cNvPr>
          <p:cNvSpPr txBox="1">
            <a:spLocks/>
          </p:cNvSpPr>
          <p:nvPr/>
        </p:nvSpPr>
        <p:spPr>
          <a:xfrm>
            <a:off x="467950" y="-114535"/>
            <a:ext cx="5895581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latin typeface="Verdana"/>
                <a:ea typeface="Verdana"/>
              </a:rPr>
              <a:t>Saturs</a:t>
            </a:r>
            <a:endParaRPr lang="ru-RU" dirty="0">
              <a:latin typeface="Verdana"/>
              <a:ea typeface="Verdana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184065" y="6372531"/>
            <a:ext cx="50114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000" dirty="0" err="1">
                <a:latin typeface="Verdana"/>
                <a:ea typeface="+mn-lt"/>
                <a:cs typeface="+mn-lt"/>
              </a:rPr>
              <a:t>Wp</a:t>
            </a:r>
            <a:r>
              <a:rPr lang="lv-LV" sz="1000" dirty="0">
                <a:latin typeface="Verdana"/>
                <a:ea typeface="+mn-lt"/>
                <a:cs typeface="+mn-lt"/>
              </a:rPr>
              <a:t> </a:t>
            </a:r>
            <a:r>
              <a:rPr lang="ru-RU" sz="1000" dirty="0">
                <a:latin typeface="Verdana"/>
                <a:ea typeface="+mn-lt"/>
                <a:cs typeface="+mn-lt"/>
              </a:rPr>
              <a:t>https://i0.wp.com/aumprakse.lv/wordpress/wp-content/uploads/2015/02/apzinatiba_checklist.jpg?fit=400%2C300&amp;ssl=1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6383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Color Fill">
            <a:extLst>
              <a:ext uri="{FF2B5EF4-FFF2-40B4-BE49-F238E27FC236}">
                <a16:creationId xmlns:a16="http://schemas.microsoft.com/office/drawing/2014/main" id="{BA44E6CA-03F3-47EA-A9F3-5C0674E28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7EE36A67-006F-476F-9635-DC6B386EE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744625" y="685620"/>
            <a:ext cx="5444327" cy="6049020"/>
            <a:chOff x="6744625" y="685620"/>
            <a:chExt cx="5444327" cy="60490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09EE09B-0433-4F4A-B864-D895D8BAE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37132" y="6155147"/>
              <a:ext cx="227139" cy="22713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Graphic 9">
              <a:extLst>
                <a:ext uri="{FF2B5EF4-FFF2-40B4-BE49-F238E27FC236}">
                  <a16:creationId xmlns:a16="http://schemas.microsoft.com/office/drawing/2014/main" id="{50531F8D-2903-44C8-A854-DDCFFC34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744625" y="967196"/>
              <a:ext cx="2116766" cy="211676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Graphic 18">
              <a:extLst>
                <a:ext uri="{FF2B5EF4-FFF2-40B4-BE49-F238E27FC236}">
                  <a16:creationId xmlns:a16="http://schemas.microsoft.com/office/drawing/2014/main" id="{95661429-E56F-4057-B25B-914DB7F87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9618226" y="3599573"/>
              <a:ext cx="2057060" cy="3135067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7D6490B-F4AE-4A13-BB54-35274AB32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6262" y="685620"/>
              <a:ext cx="265579" cy="265579"/>
            </a:xfrm>
            <a:prstGeom prst="ellipse">
              <a:avLst/>
            </a:pr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FA281D-945D-4639-8F12-BC2D20C49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60221" y="1219177"/>
              <a:ext cx="528731" cy="1057462"/>
            </a:xfrm>
            <a:custGeom>
              <a:avLst/>
              <a:gdLst>
                <a:gd name="connsiteX0" fmla="*/ 528731 w 528731"/>
                <a:gd name="connsiteY0" fmla="*/ 0 h 1057462"/>
                <a:gd name="connsiteX1" fmla="*/ 528731 w 528731"/>
                <a:gd name="connsiteY1" fmla="*/ 1057462 h 1057462"/>
                <a:gd name="connsiteX2" fmla="*/ 0 w 528731"/>
                <a:gd name="connsiteY2" fmla="*/ 528731 h 1057462"/>
                <a:gd name="connsiteX3" fmla="*/ 528731 w 528731"/>
                <a:gd name="connsiteY3" fmla="*/ 0 h 105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8731" h="1057462">
                  <a:moveTo>
                    <a:pt x="528731" y="0"/>
                  </a:moveTo>
                  <a:lnTo>
                    <a:pt x="528731" y="1057462"/>
                  </a:lnTo>
                  <a:cubicBezTo>
                    <a:pt x="236721" y="1057462"/>
                    <a:pt x="0" y="820741"/>
                    <a:pt x="0" y="528731"/>
                  </a:cubicBezTo>
                  <a:cubicBezTo>
                    <a:pt x="0" y="236721"/>
                    <a:pt x="236721" y="0"/>
                    <a:pt x="528731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7C1FE-834D-E929-EA72-F7E2C8A6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0854"/>
            <a:ext cx="5895581" cy="1325563"/>
          </a:xfrm>
        </p:spPr>
        <p:txBody>
          <a:bodyPr>
            <a:normAutofit/>
          </a:bodyPr>
          <a:lstStyle/>
          <a:p>
            <a:r>
              <a:rPr lang="lv-LV" b="1" dirty="0">
                <a:latin typeface="Verdana"/>
                <a:ea typeface="Verdana"/>
              </a:rPr>
              <a:t>Uzdevuma Nostadne</a:t>
            </a:r>
            <a:endParaRPr lang="ru-RU" b="1" dirty="0">
              <a:latin typeface="Verdana"/>
              <a:ea typeface="Verdana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49F4B2-6118-6582-E7AD-197D1767D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5" y="2004566"/>
            <a:ext cx="6493830" cy="457528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Izstrādāt modernu e-komercijas platformu </a:t>
            </a:r>
          </a:p>
          <a:p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Paredzēta datoru un komponentu tirdzniecībai </a:t>
            </a:r>
          </a:p>
          <a:p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Nodrošina: </a:t>
            </a:r>
          </a:p>
          <a:p>
            <a:pPr lvl="1"/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preču iegādi </a:t>
            </a:r>
          </a:p>
          <a:p>
            <a:pPr lvl="1"/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izsoļu sistēmu </a:t>
            </a:r>
          </a:p>
          <a:p>
            <a:pPr lvl="1"/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bloga sadaļu </a:t>
            </a:r>
          </a:p>
          <a:p>
            <a:pPr lvl="1"/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mākslīgā intelekta asistentu </a:t>
            </a:r>
          </a:p>
          <a:p>
            <a:r>
              <a:rPr lang="lv-LV" sz="2400" dirty="0">
                <a:latin typeface="Verdana" panose="020B0604030504040204" pitchFamily="34" charset="0"/>
                <a:ea typeface="Verdana" panose="020B0604030504040204" pitchFamily="34" charset="0"/>
              </a:rPr>
              <a:t>Papildus: ģimenes kontu funkcionalitāte </a:t>
            </a:r>
          </a:p>
        </p:txBody>
      </p:sp>
      <p:pic>
        <p:nvPicPr>
          <p:cNvPr id="4" name="Рисунок 3" descr="Free Blackboard Chalk vector and picture">
            <a:extLst>
              <a:ext uri="{FF2B5EF4-FFF2-40B4-BE49-F238E27FC236}">
                <a16:creationId xmlns:a16="http://schemas.microsoft.com/office/drawing/2014/main" id="{B95546F4-A7E1-1972-6258-55F99C9B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38" r="18812" b="-1"/>
          <a:stretch/>
        </p:blipFill>
        <p:spPr>
          <a:xfrm>
            <a:off x="6922924" y="1058008"/>
            <a:ext cx="4748792" cy="4748792"/>
          </a:xfrm>
          <a:custGeom>
            <a:avLst/>
            <a:gdLst/>
            <a:ahLst/>
            <a:cxnLst/>
            <a:rect l="l" t="t" r="r" b="b"/>
            <a:pathLst>
              <a:path w="3129592" h="3129592">
                <a:moveTo>
                  <a:pt x="1564796" y="0"/>
                </a:moveTo>
                <a:cubicBezTo>
                  <a:pt x="2429009" y="0"/>
                  <a:pt x="3129592" y="700583"/>
                  <a:pt x="3129592" y="1564796"/>
                </a:cubicBezTo>
                <a:cubicBezTo>
                  <a:pt x="3129592" y="2429009"/>
                  <a:pt x="2429009" y="3129592"/>
                  <a:pt x="1564796" y="3129592"/>
                </a:cubicBezTo>
                <a:cubicBezTo>
                  <a:pt x="700583" y="3129592"/>
                  <a:pt x="0" y="2429009"/>
                  <a:pt x="0" y="1564796"/>
                </a:cubicBezTo>
                <a:cubicBezTo>
                  <a:pt x="0" y="700583"/>
                  <a:pt x="700583" y="0"/>
                  <a:pt x="1564796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09EC3B-FBAF-C6B3-18EC-27F3FDC6C1EC}"/>
              </a:ext>
            </a:extLst>
          </p:cNvPr>
          <p:cNvSpPr txBox="1"/>
          <p:nvPr/>
        </p:nvSpPr>
        <p:spPr>
          <a:xfrm>
            <a:off x="8915400" y="5941142"/>
            <a:ext cx="118275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034261" y="6396236"/>
            <a:ext cx="71546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000" dirty="0" err="1">
                <a:latin typeface="Verdana"/>
                <a:ea typeface="+mn-lt"/>
                <a:cs typeface="+mn-lt"/>
              </a:rPr>
              <a:t>Encrypted</a:t>
            </a:r>
            <a:r>
              <a:rPr lang="ru-RU" sz="1000" dirty="0">
                <a:latin typeface="Verdana"/>
                <a:ea typeface="+mn-lt"/>
                <a:cs typeface="+mn-lt"/>
              </a:rPr>
              <a:t> https://encrypted-tbn1.gstatic.com/images?q=tbn:ANd9GcRLMqGq_DBqXhGYH86qK_mDntenorDr9rsNGEGrQX09_ReN30kz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3482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FAFB3478-4AEC-431E-93B2-1593839C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A8A68745-355E-4D81-AA5F-942C71082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494F00-2311-4F3B-9C5C-D0DC51F8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28124" y="-1190"/>
            <a:ext cx="5163876" cy="5940292"/>
            <a:chOff x="7028124" y="-1190"/>
            <a:chExt cx="5163876" cy="594029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3D9D3BB-BBD1-437C-B3A6-BE1AE51FD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02463" y="453951"/>
              <a:ext cx="608046" cy="6080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Graphic 18">
              <a:extLst>
                <a:ext uri="{FF2B5EF4-FFF2-40B4-BE49-F238E27FC236}">
                  <a16:creationId xmlns:a16="http://schemas.microsoft.com/office/drawing/2014/main" id="{9D9C1E0A-95BE-40A6-8056-0ADC76069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3600000">
              <a:off x="7312815" y="4858033"/>
              <a:ext cx="856614" cy="1305524"/>
            </a:xfrm>
            <a:custGeom>
              <a:avLst/>
              <a:gdLst>
                <a:gd name="connsiteX0" fmla="*/ 3413379 w 3413378"/>
                <a:gd name="connsiteY0" fmla="*/ 3266028 h 6532054"/>
                <a:gd name="connsiteX1" fmla="*/ 1706689 w 3413378"/>
                <a:gd name="connsiteY1" fmla="*/ 6532055 h 6532054"/>
                <a:gd name="connsiteX2" fmla="*/ 0 w 3413378"/>
                <a:gd name="connsiteY2" fmla="*/ 3266028 h 6532054"/>
                <a:gd name="connsiteX3" fmla="*/ 1706689 w 3413378"/>
                <a:gd name="connsiteY3" fmla="*/ 0 h 6532054"/>
                <a:gd name="connsiteX4" fmla="*/ 3413379 w 3413378"/>
                <a:gd name="connsiteY4" fmla="*/ 3266028 h 6532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3378" h="6532054">
                  <a:moveTo>
                    <a:pt x="3413379" y="3266028"/>
                  </a:moveTo>
                  <a:cubicBezTo>
                    <a:pt x="3413379" y="5069777"/>
                    <a:pt x="1706689" y="6532055"/>
                    <a:pt x="1706689" y="6532055"/>
                  </a:cubicBezTo>
                  <a:cubicBezTo>
                    <a:pt x="1706689" y="6532055"/>
                    <a:pt x="0" y="5069777"/>
                    <a:pt x="0" y="3266028"/>
                  </a:cubicBezTo>
                  <a:cubicBezTo>
                    <a:pt x="0" y="1462278"/>
                    <a:pt x="1706689" y="0"/>
                    <a:pt x="1706689" y="0"/>
                  </a:cubicBezTo>
                  <a:cubicBezTo>
                    <a:pt x="1706689" y="0"/>
                    <a:pt x="3413379" y="1462278"/>
                    <a:pt x="3413379" y="326602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8D99D5D-6418-437D-B40C-89DF2A95F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28124" y="4672162"/>
              <a:ext cx="256132" cy="2561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3451BA2-4B19-4827-BD5A-5306C1AF1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36856" y="-1190"/>
              <a:ext cx="3597981" cy="1501977"/>
            </a:xfrm>
            <a:custGeom>
              <a:avLst/>
              <a:gdLst>
                <a:gd name="connsiteX0" fmla="*/ 0 w 3597981"/>
                <a:gd name="connsiteY0" fmla="*/ 0 h 1501977"/>
                <a:gd name="connsiteX1" fmla="*/ 3597981 w 3597981"/>
                <a:gd name="connsiteY1" fmla="*/ 0 h 1501977"/>
                <a:gd name="connsiteX2" fmla="*/ 3590068 w 3597981"/>
                <a:gd name="connsiteY2" fmla="*/ 51850 h 1501977"/>
                <a:gd name="connsiteX3" fmla="*/ 1810819 w 3597981"/>
                <a:gd name="connsiteY3" fmla="*/ 1501977 h 1501977"/>
                <a:gd name="connsiteX4" fmla="*/ 0 w 3597981"/>
                <a:gd name="connsiteY4" fmla="*/ 1501977 h 150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7981" h="1501977">
                  <a:moveTo>
                    <a:pt x="0" y="0"/>
                  </a:moveTo>
                  <a:lnTo>
                    <a:pt x="3597981" y="0"/>
                  </a:lnTo>
                  <a:lnTo>
                    <a:pt x="3590068" y="51850"/>
                  </a:lnTo>
                  <a:cubicBezTo>
                    <a:pt x="3420721" y="879443"/>
                    <a:pt x="2688479" y="1501977"/>
                    <a:pt x="1810819" y="1501977"/>
                  </a:cubicBezTo>
                  <a:lnTo>
                    <a:pt x="0" y="1501977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E6C41F-771F-428C-A9A7-CD50C1AE0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183332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2E922E9E-A29B-4164-A634-B718A4336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55919-7E61-BFB0-9460-61BCC4EA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588"/>
            <a:ext cx="8686800" cy="1325563"/>
          </a:xfrm>
        </p:spPr>
        <p:txBody>
          <a:bodyPr>
            <a:normAutofit/>
          </a:bodyPr>
          <a:lstStyle/>
          <a:p>
            <a:r>
              <a:rPr lang="lv-LV" b="1" dirty="0">
                <a:latin typeface="Verdana" panose="020B0604030504040204" pitchFamily="34" charset="0"/>
                <a:ea typeface="Verdana" panose="020B0604030504040204" pitchFamily="34" charset="0"/>
              </a:rPr>
              <a:t>Izmantotās tehnoloģijas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9603657" y="5331138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781164" y="1270512"/>
            <a:ext cx="638240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HTML5, CSS (Bootstrap)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JavaScript, Vue.js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PHP 8.1,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Laravel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10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MySQL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datubāze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Stripe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maksājumu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sistēma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Mākslīgais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intelekts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(AI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asistents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096000" y="6498463"/>
            <a:ext cx="6096000" cy="246221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algn="r"/>
            <a:r>
              <a:rPr lang="ru-RU" sz="1000">
                <a:latin typeface="Verdana"/>
                <a:ea typeface="Verdana"/>
                <a:cs typeface="+mn-lt"/>
              </a:rPr>
              <a:t>Dmlab https://dmlab.edu.gr/portfolio/web-technologies-applications/</a:t>
            </a:r>
            <a:endParaRPr lang="en-US" sz="1000">
              <a:latin typeface="Verdana"/>
              <a:ea typeface="Verdana"/>
              <a:cs typeface="+mn-lt"/>
            </a:endParaRPr>
          </a:p>
        </p:txBody>
      </p:sp>
      <p:pic>
        <p:nvPicPr>
          <p:cNvPr id="6" name="Picture 5" descr="Web Technologies &amp; Applications – Data &amp; Media Lab">
            <a:extLst>
              <a:ext uri="{FF2B5EF4-FFF2-40B4-BE49-F238E27FC236}">
                <a16:creationId xmlns:a16="http://schemas.microsoft.com/office/drawing/2014/main" id="{177D8689-2B4D-1209-CC65-536E8B7AF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78" y="1719021"/>
            <a:ext cx="4454082" cy="3429602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9466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40CFA-4AFA-70FC-4E03-88EF4CFF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88" y="2847180"/>
            <a:ext cx="7685037" cy="1325563"/>
          </a:xfrm>
        </p:spPr>
        <p:txBody>
          <a:bodyPr/>
          <a:lstStyle/>
          <a:p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Funkcionālā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br>
              <a:rPr lang="lv-LV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dekompozīcija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Рисунок 3" descr="E:\drawio\sis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725" y="223282"/>
            <a:ext cx="4788684" cy="62838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8301725" y="6515232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5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4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36371" y="2596602"/>
            <a:ext cx="7685037" cy="1363816"/>
          </a:xfrm>
        </p:spPr>
        <p:txBody>
          <a:bodyPr anchor="ctr"/>
          <a:lstStyle/>
          <a:p>
            <a:pPr algn="ctr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ER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diagramma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7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E:\drawio\er2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74" y="277185"/>
            <a:ext cx="11112107" cy="59739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5457737" y="6392487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11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1518A-9EEF-2853-0B2B-F300AB8F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29" y="68611"/>
            <a:ext cx="10764982" cy="1325563"/>
          </a:xfrm>
        </p:spPr>
        <p:txBody>
          <a:bodyPr/>
          <a:lstStyle/>
          <a:p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Datu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plūsmas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diagramma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 descr="E:\drawio\familyacc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672" y="1751620"/>
            <a:ext cx="7399598" cy="45909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4629877" y="6342611"/>
            <a:ext cx="30251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lv-LV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Jaunas ģimenes autorizācija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7538686" y="6404166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7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740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4684" y="2455285"/>
            <a:ext cx="7685037" cy="1363816"/>
          </a:xfrm>
        </p:spPr>
        <p:txBody>
          <a:bodyPr anchor="ctr"/>
          <a:lstStyle/>
          <a:p>
            <a:pPr algn="ctr"/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Tabulu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saišu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shēma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54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E:\drawio\db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27" y="230841"/>
            <a:ext cx="11254131" cy="610345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5436602" y="6417425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8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7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1518A-9EEF-2853-0B2B-F300AB8F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03" y="-262547"/>
            <a:ext cx="9186530" cy="1325563"/>
          </a:xfrm>
        </p:spPr>
        <p:txBody>
          <a:bodyPr/>
          <a:lstStyle/>
          <a:p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Programmas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dirty="0" err="1">
                <a:latin typeface="Verdana" panose="020B0604030504040204" pitchFamily="34" charset="0"/>
                <a:ea typeface="Verdana" panose="020B0604030504040204" pitchFamily="34" charset="0"/>
              </a:rPr>
              <a:t>galvenais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logs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49" y="1168026"/>
            <a:ext cx="8012329" cy="5119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5BE20D-23A6-09EB-E9DC-8A03EC0D276C}"/>
              </a:ext>
            </a:extLst>
          </p:cNvPr>
          <p:cNvSpPr txBox="1"/>
          <p:nvPr/>
        </p:nvSpPr>
        <p:spPr>
          <a:xfrm>
            <a:off x="5449423" y="6392487"/>
            <a:ext cx="133117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lv-LV" sz="1400" dirty="0"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n-GB" sz="14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GB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attēls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7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8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43F8043-C799-466F-8C9B-9AB1ADB60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olor Fill">
            <a:extLst>
              <a:ext uri="{FF2B5EF4-FFF2-40B4-BE49-F238E27FC236}">
                <a16:creationId xmlns:a16="http://schemas.microsoft.com/office/drawing/2014/main" id="{E2539269-A988-4404-9F15-456795083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06F529-CD5D-4778-9EFF-539782DE4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DD05D7-729A-4FEE-8BAE-4DF76A86D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A34F10-25C0-4696-A77E-D08B72EA7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CF4D24D-08A4-4D2F-9911-46A2D17E6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A60E1FF2-EE91-4C0C-914A-262F36E1E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Graphic 9">
              <a:extLst>
                <a:ext uri="{FF2B5EF4-FFF2-40B4-BE49-F238E27FC236}">
                  <a16:creationId xmlns:a16="http://schemas.microsoft.com/office/drawing/2014/main" id="{8B579174-67A2-4DA2-8E51-013AFF86C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6CAC630-4D61-4D13-88B3-734086C50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79CE322-CC11-442C-A018-DE4477110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0BCD36D-87B5-4011-9D23-FE2BB6828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9659E5-874B-44E0-BE0A-B8409AF8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5" name="Texture">
            <a:extLst>
              <a:ext uri="{FF2B5EF4-FFF2-40B4-BE49-F238E27FC236}">
                <a16:creationId xmlns:a16="http://schemas.microsoft.com/office/drawing/2014/main" id="{805817B5-27FE-455C-B285-B97D53E1E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FCA81-4F4B-DFF4-AA82-1698CFC9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583" y="736098"/>
            <a:ext cx="5859787" cy="2824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dirty="0" err="1">
                <a:latin typeface="Verdana"/>
                <a:ea typeface="Verdana"/>
              </a:rPr>
              <a:t>Secinājumi</a:t>
            </a:r>
            <a:endParaRPr lang="en-US" sz="6000" b="1" dirty="0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77687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63E5BFF9-8D75-4F8D-AA2E-E9AF4156B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5074A657-B6F7-47AE-B719-D3590207E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495AF5-CD36-4EE9-95DB-86D2A393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EFB5B0C-DD84-4ACA-8A57-0DF5C9BAD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37C3102-63A7-409A-A09D-56EBB4C81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A99EBC8-DA67-46D1-BE90-B240465A8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65540EA-046F-4AF0-8CEB-E2EFE6FD0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5FE32756-B183-449F-BD63-0CD97BABA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1A06E5-D53E-4F08-917B-C03F56DFD9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49B903-4F98-4946-9F6B-A42679E0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53BC73C-A7AD-48F4-B586-4F781FCB9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B3270C9-025A-41DD-997B-C8C6A6CBA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Texture">
            <a:extLst>
              <a:ext uri="{FF2B5EF4-FFF2-40B4-BE49-F238E27FC236}">
                <a16:creationId xmlns:a16="http://schemas.microsoft.com/office/drawing/2014/main" id="{8DB0478B-1B97-4BFD-90B4-35597D821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1FA9ED-5D52-BA7B-D92D-B118CD70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30" y="523660"/>
            <a:ext cx="9901165" cy="1078961"/>
          </a:xfrm>
        </p:spPr>
        <p:txBody>
          <a:bodyPr>
            <a:noAutofit/>
          </a:bodyPr>
          <a:lstStyle/>
          <a:p>
            <a:pPr algn="ctr"/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Izmantoto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literatūru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un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avotu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saraksts</a:t>
            </a:r>
            <a:endParaRPr lang="ru-RU" b="1" dirty="0" err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60BF72-31B5-629C-5D80-9D07F77E3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820" y="1810914"/>
            <a:ext cx="11886984" cy="52324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ru-RU" sz="2400" dirty="0">
                <a:latin typeface="Verdana"/>
                <a:ea typeface="Verdana"/>
              </a:rPr>
              <a:t>Konspekts (Komunikācijas un prezentēšanas prasmes)</a:t>
            </a:r>
          </a:p>
          <a:p>
            <a:pPr algn="ctr"/>
            <a:r>
              <a:rPr lang="ru-RU" sz="2400" dirty="0">
                <a:latin typeface="Verdana"/>
                <a:ea typeface="Verdana"/>
              </a:rPr>
              <a:t>Eksistejošo veikalu analīze</a:t>
            </a:r>
          </a:p>
          <a:p>
            <a:pPr algn="ctr"/>
            <a:r>
              <a:rPr lang="ru-RU" sz="2400" dirty="0">
                <a:latin typeface="Verdana"/>
                <a:ea typeface="+mn-lt"/>
                <a:cs typeface="+mn-lt"/>
              </a:rPr>
              <a:t>Laravel </a:t>
            </a:r>
            <a:r>
              <a:rPr lang="ru-RU" sz="2400" dirty="0">
                <a:latin typeface="Verdana"/>
                <a:ea typeface="Verdana"/>
                <a:cs typeface="+mn-lt"/>
              </a:rPr>
              <a:t>[Skatīts 01.02.2025] </a:t>
            </a:r>
            <a:r>
              <a:rPr lang="ru-RU" sz="2400" dirty="0">
                <a:latin typeface="Verdana"/>
                <a:ea typeface="+mn-lt"/>
                <a:cs typeface="+mn-lt"/>
              </a:rPr>
              <a:t>https://laravel.com/ </a:t>
            </a:r>
          </a:p>
          <a:p>
            <a:pPr algn="ctr"/>
            <a:r>
              <a:rPr lang="ru-RU" sz="2400" dirty="0">
                <a:latin typeface="Verdana"/>
                <a:ea typeface="+mn-lt"/>
                <a:cs typeface="+mn-lt"/>
              </a:rPr>
              <a:t>Vuejs </a:t>
            </a:r>
            <a:r>
              <a:rPr lang="ru-RU" sz="2400" dirty="0">
                <a:latin typeface="Verdana"/>
                <a:ea typeface="Verdana"/>
                <a:cs typeface="+mn-lt"/>
              </a:rPr>
              <a:t>[Skatīts 01.02.2025] </a:t>
            </a:r>
            <a:r>
              <a:rPr lang="ru-RU" sz="2400" dirty="0">
                <a:latin typeface="Verdana"/>
                <a:ea typeface="+mn-lt"/>
                <a:cs typeface="+mn-lt"/>
              </a:rPr>
              <a:t>https://vuejs.org/ </a:t>
            </a:r>
          </a:p>
          <a:p>
            <a:pPr algn="ctr"/>
            <a:r>
              <a:rPr lang="ru-RU" sz="2400" dirty="0">
                <a:latin typeface="Verdana"/>
                <a:ea typeface="+mn-lt"/>
                <a:cs typeface="+mn-lt"/>
              </a:rPr>
              <a:t>Digitalsilk https://www.digitalsilk.com/digital-trends/how-to-start-an-ecommerce-business</a:t>
            </a:r>
          </a:p>
          <a:p>
            <a:pPr algn="ctr"/>
            <a:r>
              <a:rPr lang="en-GB" sz="2400" dirty="0">
                <a:latin typeface="Verdana"/>
                <a:ea typeface="+mn-lt"/>
                <a:cs typeface="+mn-lt"/>
              </a:rPr>
              <a:t>1. </a:t>
            </a:r>
            <a:r>
              <a:rPr lang="en-GB" sz="2400" dirty="0" err="1">
                <a:latin typeface="Verdana"/>
                <a:ea typeface="+mn-lt"/>
                <a:cs typeface="+mn-lt"/>
              </a:rPr>
              <a:t>attēls</a:t>
            </a:r>
            <a:r>
              <a:rPr lang="en-GB" sz="2400" dirty="0">
                <a:latin typeface="Verdana"/>
                <a:ea typeface="+mn-lt"/>
                <a:cs typeface="+mn-lt"/>
              </a:rPr>
              <a:t>:</a:t>
            </a:r>
            <a:r>
              <a:rPr lang="ru-RU" sz="2400" dirty="0">
                <a:latin typeface="Verdana"/>
                <a:ea typeface="+mn-lt"/>
                <a:cs typeface="+mn-lt"/>
              </a:rPr>
              <a:t> RVT [Skatīts 01.02.2025] - https://www.rvt.lv/wp-content/uploads/2021/03/cropped-RVT-100-gadi-logo-e1616052812909.png</a:t>
            </a:r>
            <a:endParaRPr lang="en-US" sz="2400">
              <a:latin typeface="Verdana"/>
              <a:ea typeface="+mn-lt"/>
              <a:cs typeface="+mn-lt"/>
            </a:endParaRPr>
          </a:p>
          <a:p>
            <a:pPr algn="ctr"/>
            <a:r>
              <a:rPr lang="en-GB" sz="2400" dirty="0">
                <a:latin typeface="Verdana"/>
                <a:ea typeface="+mn-lt"/>
                <a:cs typeface="+mn-lt"/>
              </a:rPr>
              <a:t>2. </a:t>
            </a:r>
            <a:r>
              <a:rPr lang="en-GB" sz="2400" dirty="0" err="1">
                <a:latin typeface="Verdana"/>
                <a:ea typeface="+mn-lt"/>
                <a:cs typeface="+mn-lt"/>
              </a:rPr>
              <a:t>attēls</a:t>
            </a:r>
            <a:r>
              <a:rPr lang="en-GB" sz="2400" dirty="0">
                <a:latin typeface="Verdana"/>
                <a:ea typeface="+mn-lt"/>
                <a:cs typeface="+mn-lt"/>
              </a:rPr>
              <a:t>: </a:t>
            </a:r>
            <a:r>
              <a:rPr lang="ru-RU" sz="2400" dirty="0">
                <a:latin typeface="Verdana"/>
                <a:ea typeface="+mn-lt"/>
                <a:cs typeface="+mn-lt"/>
              </a:rPr>
              <a:t>Wp [Skatīts 01.02.2025] - https://i0.wp.com/aumprakse.lv/wordpress/wp-content/uploads/2015/02/apzinatiba_checklist.jpg?fit=400%2C300&amp;ssl=1 </a:t>
            </a:r>
            <a:r>
              <a:rPr lang="ru-RU" sz="2400" dirty="0">
                <a:latin typeface="Verdana"/>
                <a:ea typeface="Verdana"/>
                <a:cs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6304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DAAD9-AB94-FC66-7298-8B6B6B3CC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Background Fill">
            <a:extLst>
              <a:ext uri="{FF2B5EF4-FFF2-40B4-BE49-F238E27FC236}">
                <a16:creationId xmlns:a16="http://schemas.microsoft.com/office/drawing/2014/main" id="{10D86EC7-624A-E5BC-5D22-78F01C206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EA9524CC-746A-AAAA-2EFE-08F1E4BCB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A104E5-148A-D72C-AE4A-11FA5259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3227"/>
            <a:ext cx="12192000" cy="6861227"/>
            <a:chOff x="0" y="-3227"/>
            <a:chExt cx="12192000" cy="686122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9903F2-8F34-A675-66F3-30E6098E0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58790" y="124188"/>
              <a:ext cx="215755" cy="2157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5C7856D-2064-BA58-8C3A-0BDB093C0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79553" y="2866365"/>
              <a:ext cx="697984" cy="697984"/>
            </a:xfrm>
            <a:prstGeom prst="ellipse">
              <a:avLst/>
            </a:prstGeom>
            <a:solidFill>
              <a:schemeClr val="accent1"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D7C32784-EA31-E7A3-D096-6FE42A78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134" y="3762066"/>
              <a:ext cx="230192" cy="230191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51B9888F-0945-4C60-72BA-E8416F944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451544" y="-3227"/>
              <a:ext cx="2740456" cy="2740456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44D9A612-0E5A-84C4-87CC-CB95E5CD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9621871" y="163409"/>
              <a:ext cx="2387894" cy="2387894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9C21E2-69EA-16D0-B9D4-94DEF7A5B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3060" y="599153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CDECE33-0B39-0063-AC47-FE432285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903403"/>
              <a:ext cx="1715504" cy="2954597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16F76F-1972-A319-61D7-59CB76FB3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168300"/>
              <a:ext cx="1533337" cy="2555470"/>
            </a:xfrm>
            <a:custGeom>
              <a:avLst/>
              <a:gdLst>
                <a:gd name="connsiteX0" fmla="*/ 0 w 1986804"/>
                <a:gd name="connsiteY0" fmla="*/ 0 h 2902159"/>
                <a:gd name="connsiteX1" fmla="*/ 533594 w 1986804"/>
                <a:gd name="connsiteY1" fmla="*/ 0 h 2902159"/>
                <a:gd name="connsiteX2" fmla="*/ 1986804 w 1986804"/>
                <a:gd name="connsiteY2" fmla="*/ 1453211 h 2902159"/>
                <a:gd name="connsiteX3" fmla="*/ 1986804 w 1986804"/>
                <a:gd name="connsiteY3" fmla="*/ 2902159 h 2902159"/>
                <a:gd name="connsiteX4" fmla="*/ 537856 w 1986804"/>
                <a:gd name="connsiteY4" fmla="*/ 2902159 h 2902159"/>
                <a:gd name="connsiteX5" fmla="*/ 105713 w 1986804"/>
                <a:gd name="connsiteY5" fmla="*/ 2836826 h 2902159"/>
                <a:gd name="connsiteX6" fmla="*/ 0 w 1986804"/>
                <a:gd name="connsiteY6" fmla="*/ 2798136 h 290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804" h="2902159">
                  <a:moveTo>
                    <a:pt x="0" y="0"/>
                  </a:moveTo>
                  <a:lnTo>
                    <a:pt x="533594" y="0"/>
                  </a:lnTo>
                  <a:cubicBezTo>
                    <a:pt x="1336188" y="0"/>
                    <a:pt x="1986804" y="650616"/>
                    <a:pt x="1986804" y="1453211"/>
                  </a:cubicBezTo>
                  <a:lnTo>
                    <a:pt x="1986804" y="2902159"/>
                  </a:lnTo>
                  <a:lnTo>
                    <a:pt x="537856" y="2902159"/>
                  </a:lnTo>
                  <a:cubicBezTo>
                    <a:pt x="387370" y="2902159"/>
                    <a:pt x="242226" y="2879286"/>
                    <a:pt x="105713" y="2836826"/>
                  </a:cubicBezTo>
                  <a:lnTo>
                    <a:pt x="0" y="279813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5A537C-5A38-ECA7-CE61-65854D2EBF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85047" y="4685933"/>
              <a:ext cx="2406953" cy="2172067"/>
            </a:xfrm>
            <a:custGeom>
              <a:avLst/>
              <a:gdLst>
                <a:gd name="connsiteX0" fmla="*/ 1229573 w 2406953"/>
                <a:gd name="connsiteY0" fmla="*/ 0 h 2172067"/>
                <a:gd name="connsiteX1" fmla="*/ 2406313 w 2406953"/>
                <a:gd name="connsiteY1" fmla="*/ 1496275 h 2172067"/>
                <a:gd name="connsiteX2" fmla="*/ 2406953 w 2406953"/>
                <a:gd name="connsiteY2" fmla="*/ 1499327 h 2172067"/>
                <a:gd name="connsiteX3" fmla="*/ 2406953 w 2406953"/>
                <a:gd name="connsiteY3" fmla="*/ 2172067 h 2172067"/>
                <a:gd name="connsiteX4" fmla="*/ 36154 w 2406953"/>
                <a:gd name="connsiteY4" fmla="*/ 2172067 h 2172067"/>
                <a:gd name="connsiteX5" fmla="*/ 13809 w 2406953"/>
                <a:gd name="connsiteY5" fmla="*/ 2065529 h 2172067"/>
                <a:gd name="connsiteX6" fmla="*/ 0 w 2406953"/>
                <a:gd name="connsiteY6" fmla="*/ 1873933 h 2172067"/>
                <a:gd name="connsiteX7" fmla="*/ 1229573 w 2406953"/>
                <a:gd name="connsiteY7" fmla="*/ 0 h 21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953" h="2172067">
                  <a:moveTo>
                    <a:pt x="1229573" y="0"/>
                  </a:moveTo>
                  <a:cubicBezTo>
                    <a:pt x="1229573" y="0"/>
                    <a:pt x="2170965" y="642363"/>
                    <a:pt x="2406313" y="1496275"/>
                  </a:cubicBezTo>
                  <a:lnTo>
                    <a:pt x="2406953" y="1499327"/>
                  </a:lnTo>
                  <a:lnTo>
                    <a:pt x="2406953" y="2172067"/>
                  </a:lnTo>
                  <a:lnTo>
                    <a:pt x="36154" y="2172067"/>
                  </a:lnTo>
                  <a:lnTo>
                    <a:pt x="13809" y="2065529"/>
                  </a:lnTo>
                  <a:cubicBezTo>
                    <a:pt x="4803" y="2002533"/>
                    <a:pt x="0" y="1938616"/>
                    <a:pt x="0" y="1873933"/>
                  </a:cubicBezTo>
                  <a:cubicBezTo>
                    <a:pt x="0" y="839004"/>
                    <a:pt x="1229573" y="0"/>
                    <a:pt x="1229573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3" name="Texture">
            <a:extLst>
              <a:ext uri="{FF2B5EF4-FFF2-40B4-BE49-F238E27FC236}">
                <a16:creationId xmlns:a16="http://schemas.microsoft.com/office/drawing/2014/main" id="{8D0A9E5D-746B-3A35-4371-87021FA45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DBC339-C8B2-DEE2-7BFB-3475FB73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626" y="1680256"/>
            <a:ext cx="11657369" cy="56774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endParaRPr lang="ru-RU" sz="2400" dirty="0">
              <a:latin typeface="Verdana" panose="020B0604030504040204" pitchFamily="34" charset="0"/>
              <a:ea typeface="Verdana" panose="020B0604030504040204" pitchFamily="34" charset="0"/>
              <a:cs typeface="+mn-lt"/>
            </a:endParaRPr>
          </a:p>
          <a:p>
            <a:pPr algn="ctr"/>
            <a:r>
              <a:rPr lang="en-GB" sz="2400" dirty="0">
                <a:latin typeface="Verdana"/>
                <a:ea typeface="Verdana"/>
                <a:cs typeface="+mn-lt"/>
              </a:rPr>
              <a:t>4. </a:t>
            </a:r>
            <a:r>
              <a:rPr lang="en-GB" sz="2400" dirty="0" err="1">
                <a:latin typeface="Verdana"/>
                <a:ea typeface="Verdana"/>
                <a:cs typeface="+mn-lt"/>
              </a:rPr>
              <a:t>attēls</a:t>
            </a:r>
            <a:r>
              <a:rPr lang="en-GB" sz="2400" dirty="0">
                <a:latin typeface="Verdana"/>
                <a:ea typeface="Verdana"/>
                <a:cs typeface="+mn-lt"/>
              </a:rPr>
              <a:t>:</a:t>
            </a:r>
            <a:r>
              <a:rPr lang="ru-RU" sz="2400" dirty="0">
                <a:latin typeface="Verdana"/>
                <a:ea typeface="Verdana"/>
                <a:cs typeface="+mn-lt"/>
              </a:rPr>
              <a:t> Dmlab [Skatīts 26.04.2026] - https://dmlab.edu.gr/portfolio/web-technologies-applications/</a:t>
            </a:r>
            <a:endParaRPr lang="ru-RU" sz="2400">
              <a:solidFill>
                <a:srgbClr val="000000"/>
              </a:solidFill>
              <a:latin typeface="Verdana"/>
              <a:ea typeface="Verdana"/>
              <a:cs typeface="+mn-lt"/>
            </a:endParaRPr>
          </a:p>
          <a:p>
            <a:pPr algn="ctr"/>
            <a:r>
              <a:rPr lang="en-GB" sz="2400" dirty="0">
                <a:latin typeface="Verdana"/>
                <a:ea typeface="+mn-lt"/>
                <a:cs typeface="+mn-lt"/>
              </a:rPr>
              <a:t>3. </a:t>
            </a:r>
            <a:r>
              <a:rPr lang="en-GB" sz="2400" dirty="0" err="1">
                <a:latin typeface="Verdana"/>
                <a:ea typeface="+mn-lt"/>
                <a:cs typeface="+mn-lt"/>
              </a:rPr>
              <a:t>attēls</a:t>
            </a:r>
            <a:r>
              <a:rPr lang="en-GB" sz="2400" dirty="0">
                <a:latin typeface="Verdana"/>
                <a:ea typeface="+mn-lt"/>
                <a:cs typeface="+mn-lt"/>
              </a:rPr>
              <a:t>:</a:t>
            </a:r>
            <a:r>
              <a:rPr lang="ru-RU" sz="2400" dirty="0">
                <a:latin typeface="Verdana"/>
                <a:ea typeface="+mn-lt"/>
                <a:cs typeface="+mn-lt"/>
              </a:rPr>
              <a:t> </a:t>
            </a:r>
            <a:r>
              <a:rPr lang="ru-RU" sz="2400" dirty="0" err="1">
                <a:latin typeface="Verdana"/>
                <a:ea typeface="+mn-lt"/>
                <a:cs typeface="+mn-lt"/>
              </a:rPr>
              <a:t>Encrypted</a:t>
            </a:r>
            <a:r>
              <a:rPr lang="ru-RU" sz="2400" dirty="0">
                <a:latin typeface="Verdana"/>
                <a:ea typeface="+mn-lt"/>
                <a:cs typeface="+mn-lt"/>
              </a:rPr>
              <a:t> [</a:t>
            </a:r>
            <a:r>
              <a:rPr lang="ru-RU" sz="2400" dirty="0" err="1">
                <a:latin typeface="Verdana"/>
                <a:ea typeface="+mn-lt"/>
                <a:cs typeface="+mn-lt"/>
              </a:rPr>
              <a:t>Skatīts</a:t>
            </a:r>
            <a:r>
              <a:rPr lang="ru-RU" sz="2400" dirty="0">
                <a:latin typeface="Verdana"/>
                <a:ea typeface="+mn-lt"/>
                <a:cs typeface="+mn-lt"/>
              </a:rPr>
              <a:t> 01.02.2025] - https://encrypted-tbn1.gstatic.com/images?q=tbn:ANd9GcRLMqGq_DBqXhGYH86qK_mDntenorDr9rsNGEGrQX09_ReN30kz 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7D557FB-6669-50A6-A014-F036A8956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727" y="599153"/>
            <a:ext cx="9901165" cy="1078961"/>
          </a:xfrm>
        </p:spPr>
        <p:txBody>
          <a:bodyPr>
            <a:noAutofit/>
          </a:bodyPr>
          <a:lstStyle/>
          <a:p>
            <a:pPr algn="ctr"/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Izmantoto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literatūru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un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avotu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 </a:t>
            </a:r>
            <a:r>
              <a:rPr lang="ru-RU" b="1" dirty="0" err="1">
                <a:latin typeface="Verdana" panose="020B0604030504040204" pitchFamily="34" charset="0"/>
                <a:ea typeface="Verdana" panose="020B0604030504040204" pitchFamily="34" charset="0"/>
                <a:cs typeface="+mj-lt"/>
              </a:rPr>
              <a:t>saraksts</a:t>
            </a:r>
            <a:endParaRPr lang="ru-RU" b="1" dirty="0" err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7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9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9" name="Group 43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49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41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43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Color Fill">
            <a:extLst>
              <a:ext uri="{FF2B5EF4-FFF2-40B4-BE49-F238E27FC236}">
                <a16:creationId xmlns:a16="http://schemas.microsoft.com/office/drawing/2014/main" id="{8BECD55C-E611-4BCD-B45E-BF01D6234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2" name="Group 56">
            <a:extLst>
              <a:ext uri="{FF2B5EF4-FFF2-40B4-BE49-F238E27FC236}">
                <a16:creationId xmlns:a16="http://schemas.microsoft.com/office/drawing/2014/main" id="{193327DE-AF96-4552-944C-F5FB663CD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92168" y="-1"/>
            <a:ext cx="4782385" cy="4928295"/>
            <a:chOff x="6992168" y="-1"/>
            <a:chExt cx="4782385" cy="4928295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87A98A1-D478-4890-9CAB-83521D6C7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66507" y="453951"/>
              <a:ext cx="608046" cy="60804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76BB555-B9B3-4F0E-8005-2D40CC16B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264751" y="0"/>
              <a:ext cx="3721476" cy="1682047"/>
            </a:xfrm>
            <a:custGeom>
              <a:avLst/>
              <a:gdLst>
                <a:gd name="connsiteX0" fmla="*/ 0 w 3721476"/>
                <a:gd name="connsiteY0" fmla="*/ 0 h 1682047"/>
                <a:gd name="connsiteX1" fmla="*/ 3721476 w 3721476"/>
                <a:gd name="connsiteY1" fmla="*/ 0 h 1682047"/>
                <a:gd name="connsiteX2" fmla="*/ 3721230 w 3721476"/>
                <a:gd name="connsiteY2" fmla="*/ 4881 h 1682047"/>
                <a:gd name="connsiteX3" fmla="*/ 1862697 w 3721476"/>
                <a:gd name="connsiteY3" fmla="*/ 1682047 h 1682047"/>
                <a:gd name="connsiteX4" fmla="*/ 0 w 3721476"/>
                <a:gd name="connsiteY4" fmla="*/ 1682047 h 168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1476" h="1682047">
                  <a:moveTo>
                    <a:pt x="0" y="0"/>
                  </a:moveTo>
                  <a:lnTo>
                    <a:pt x="3721476" y="0"/>
                  </a:lnTo>
                  <a:lnTo>
                    <a:pt x="3721230" y="4881"/>
                  </a:lnTo>
                  <a:cubicBezTo>
                    <a:pt x="3625562" y="946929"/>
                    <a:pt x="2829989" y="1682047"/>
                    <a:pt x="1862697" y="1682047"/>
                  </a:cubicBezTo>
                  <a:lnTo>
                    <a:pt x="0" y="1682047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282DB48-F1F9-487D-8AC3-94C762AFD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19737" y="-1"/>
              <a:ext cx="3443554" cy="1516699"/>
            </a:xfrm>
            <a:custGeom>
              <a:avLst/>
              <a:gdLst>
                <a:gd name="connsiteX0" fmla="*/ 0 w 2872279"/>
                <a:gd name="connsiteY0" fmla="*/ 0 h 1183937"/>
                <a:gd name="connsiteX1" fmla="*/ 2872279 w 2872279"/>
                <a:gd name="connsiteY1" fmla="*/ 0 h 1183937"/>
                <a:gd name="connsiteX2" fmla="*/ 2868418 w 2872279"/>
                <a:gd name="connsiteY2" fmla="*/ 25304 h 1183937"/>
                <a:gd name="connsiteX3" fmla="*/ 1446821 w 2872279"/>
                <a:gd name="connsiteY3" fmla="*/ 1183937 h 1183937"/>
                <a:gd name="connsiteX4" fmla="*/ 0 w 2872279"/>
                <a:gd name="connsiteY4" fmla="*/ 1183937 h 1183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2279" h="1183937">
                  <a:moveTo>
                    <a:pt x="0" y="0"/>
                  </a:moveTo>
                  <a:lnTo>
                    <a:pt x="2872279" y="0"/>
                  </a:lnTo>
                  <a:lnTo>
                    <a:pt x="2868418" y="25304"/>
                  </a:lnTo>
                  <a:cubicBezTo>
                    <a:pt x="2733112" y="686540"/>
                    <a:pt x="2148060" y="1183937"/>
                    <a:pt x="1446821" y="1183937"/>
                  </a:cubicBezTo>
                  <a:lnTo>
                    <a:pt x="0" y="1183937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930DAE9-1ABF-4097-906C-3946FCEEC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92168" y="4672162"/>
              <a:ext cx="256132" cy="2561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F9536-C61E-78CA-F279-0012ED28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355" y="1045749"/>
            <a:ext cx="6146193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 err="1">
                <a:latin typeface="Verdana"/>
                <a:ea typeface="Verdana"/>
              </a:rPr>
              <a:t>Paldies</a:t>
            </a:r>
            <a:r>
              <a:rPr lang="en-US" sz="6000" b="1" dirty="0">
                <a:latin typeface="Verdana"/>
                <a:ea typeface="Verdana"/>
              </a:rPr>
              <a:t> par </a:t>
            </a:r>
            <a:r>
              <a:rPr lang="en-US" sz="6000" b="1" dirty="0" err="1">
                <a:latin typeface="Verdana"/>
                <a:ea typeface="Verdana"/>
              </a:rPr>
              <a:t>uzmanību</a:t>
            </a:r>
            <a:r>
              <a:rPr lang="en-US" sz="6000" b="1" dirty="0">
                <a:latin typeface="Verdana"/>
                <a:ea typeface="Verdana"/>
              </a:rPr>
              <a:t>!</a:t>
            </a:r>
          </a:p>
        </p:txBody>
      </p:sp>
      <p:pic>
        <p:nvPicPr>
          <p:cNvPr id="5" name="Рисунок 4" descr="Contain vs. Retain: How much information should you put into a presentation?">
            <a:extLst>
              <a:ext uri="{FF2B5EF4-FFF2-40B4-BE49-F238E27FC236}">
                <a16:creationId xmlns:a16="http://schemas.microsoft.com/office/drawing/2014/main" id="{869E3E11-BCDF-7719-4CA1-8843F084F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76" r="32174" b="1"/>
          <a:stretch/>
        </p:blipFill>
        <p:spPr>
          <a:xfrm>
            <a:off x="7337620" y="2006669"/>
            <a:ext cx="4851332" cy="4851331"/>
          </a:xfrm>
          <a:custGeom>
            <a:avLst/>
            <a:gdLst/>
            <a:ahLst/>
            <a:cxnLst/>
            <a:rect l="l" t="t" r="r" b="b"/>
            <a:pathLst>
              <a:path w="3646992" h="3646991">
                <a:moveTo>
                  <a:pt x="0" y="0"/>
                </a:moveTo>
                <a:lnTo>
                  <a:pt x="1820818" y="0"/>
                </a:lnTo>
                <a:cubicBezTo>
                  <a:pt x="2829397" y="0"/>
                  <a:pt x="3646992" y="817595"/>
                  <a:pt x="3646992" y="1826174"/>
                </a:cubicBezTo>
                <a:lnTo>
                  <a:pt x="3646992" y="3646991"/>
                </a:lnTo>
                <a:lnTo>
                  <a:pt x="1826174" y="3646991"/>
                </a:lnTo>
                <a:cubicBezTo>
                  <a:pt x="817595" y="3646991"/>
                  <a:pt x="0" y="2829396"/>
                  <a:pt x="0" y="1820817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C7015D-48E9-7F9C-97CC-CB0E813D18EA}"/>
              </a:ext>
            </a:extLst>
          </p:cNvPr>
          <p:cNvSpPr txBox="1"/>
          <p:nvPr/>
        </p:nvSpPr>
        <p:spPr>
          <a:xfrm>
            <a:off x="561257" y="6523211"/>
            <a:ext cx="1153859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 err="1">
                <a:latin typeface="Verdana" panose="020B0604030504040204" pitchFamily="34" charset="0"/>
                <a:ea typeface="Verdana" panose="020B0604030504040204" pitchFamily="34" charset="0"/>
              </a:rPr>
              <a:t>Gstatic</a:t>
            </a:r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</a:rPr>
              <a:t> https://encrypted-tbn1.gstatic.com/images?q=tbn:ANd9GcRV-gNpT7VhIOllW9XlL9MBafwzIXhUsDulNj_t-EpAZif_9PwL</a:t>
            </a:r>
          </a:p>
        </p:txBody>
      </p:sp>
    </p:spTree>
    <p:extLst>
      <p:ext uri="{BB962C8B-B14F-4D97-AF65-F5344CB8AC3E}">
        <p14:creationId xmlns:p14="http://schemas.microsoft.com/office/powerpoint/2010/main" val="2307454994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830"/>
      </a:dk2>
      <a:lt2>
        <a:srgbClr val="F3F0F2"/>
      </a:lt2>
      <a:accent1>
        <a:srgbClr val="46B381"/>
      </a:accent1>
      <a:accent2>
        <a:srgbClr val="3BB1AC"/>
      </a:accent2>
      <a:accent3>
        <a:srgbClr val="4D97C3"/>
      </a:accent3>
      <a:accent4>
        <a:srgbClr val="3B53B1"/>
      </a:accent4>
      <a:accent5>
        <a:srgbClr val="654DC3"/>
      </a:accent5>
      <a:accent6>
        <a:srgbClr val="853BB1"/>
      </a:accent6>
      <a:hlink>
        <a:srgbClr val="BF417B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265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TropicVTI</vt:lpstr>
      <vt:lpstr>Tīmekļa vietne datoru un komponentu tirdzniecībā</vt:lpstr>
      <vt:lpstr>PowerPoint Presentation</vt:lpstr>
      <vt:lpstr>Uzdevuma Nostadne</vt:lpstr>
      <vt:lpstr>Izmantotās tehnoloģijas</vt:lpstr>
      <vt:lpstr>Funkcionālā  dekompozīcija</vt:lpstr>
      <vt:lpstr>ER diagramma</vt:lpstr>
      <vt:lpstr>PowerPoint Presentation</vt:lpstr>
      <vt:lpstr>Datu plūsmas diagramma</vt:lpstr>
      <vt:lpstr>Tabulu saišu shēma</vt:lpstr>
      <vt:lpstr>PowerPoint Presentation</vt:lpstr>
      <vt:lpstr>Programmas galvenais logs</vt:lpstr>
      <vt:lpstr>Secinājumi</vt:lpstr>
      <vt:lpstr>Izmantoto literatūru un avotu saraksts</vt:lpstr>
      <vt:lpstr>Izmantoto literatūru un avotu saraksts</vt:lpstr>
      <vt:lpstr>Paldies par uzmanību!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COMTEM</dc:title>
  <dc:creator/>
  <cp:lastModifiedBy>Dan</cp:lastModifiedBy>
  <cp:revision>1162</cp:revision>
  <dcterms:created xsi:type="dcterms:W3CDTF">2024-12-01T10:18:32Z</dcterms:created>
  <dcterms:modified xsi:type="dcterms:W3CDTF">2026-04-26T11:09:18Z</dcterms:modified>
</cp:coreProperties>
</file>